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slide" Target="slide9.xml"/><Relationship Id="rId18" Type="http://schemas.openxmlformats.org/officeDocument/2006/relationships/image" Target="../media/image9.png"/><Relationship Id="rId3" Type="http://schemas.openxmlformats.org/officeDocument/2006/relationships/slide" Target="slide4.xml"/><Relationship Id="rId7" Type="http://schemas.openxmlformats.org/officeDocument/2006/relationships/slide" Target="slide6.xml"/><Relationship Id="rId12" Type="http://schemas.openxmlformats.org/officeDocument/2006/relationships/image" Target="../media/image7.png"/><Relationship Id="rId17" Type="http://schemas.openxmlformats.org/officeDocument/2006/relationships/slide" Target="slide11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8.xml"/><Relationship Id="rId5" Type="http://schemas.openxmlformats.org/officeDocument/2006/relationships/slide" Target="slide5.xml"/><Relationship Id="rId15" Type="http://schemas.openxmlformats.org/officeDocument/2006/relationships/slide" Target="slide10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slide" Target="slide7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2555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SUBMISSION  ·  FY26 INNOVATION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868680" cy="86868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dextra_pptx/icons/gesture_h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7" y="14602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DEXTRA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Without Contact — Gesture-Driven Computing, Reimagined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3977640"/>
            <a:ext cx="6949440" cy="0"/>
          </a:xfrm>
          <a:prstGeom prst="line">
            <a:avLst/>
          </a:prstGeom>
          <a:noFill/>
          <a:ln w="12700">
            <a:solidFill>
              <a:srgbClr val="2E52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4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· Logesh · Muthamil · Godfrey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r>
              <a:rPr lang="en-US" sz="14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OpenCV · PyAutoGUI · Python · React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49377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June 2026  ·  Confidential — For Internal Use Only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5623560"/>
            <a:ext cx="7498080" cy="685800"/>
          </a:xfrm>
          <a:prstGeom prst="roundRect">
            <a:avLst>
              <a:gd name="adj" fmla="val 13333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4" name="Image 1" descr="/home/claude/dextra_pptx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790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56235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has been routed to the </a:t>
            </a:r>
            <a:r>
              <a:rPr lang="en-US" sz="1300" i="1" dirty="0" err="1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r>
              <a:rPr lang="en-US" sz="1300" i="1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structured review →</a:t>
            </a:r>
            <a:endParaRPr lang="en-US" sz="1300" dirty="0"/>
          </a:p>
        </p:txBody>
      </p:sp>
      <p:sp>
        <p:nvSpPr>
          <p:cNvPr id="16" name="Text 12">
            <a:hlinkClick r:id="rId5" action="ppaction://hlinksldjump"/>
          </p:cNvPr>
          <p:cNvSpPr/>
          <p:nvPr/>
        </p:nvSpPr>
        <p:spPr>
          <a:xfrm>
            <a:off x="8503920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6F868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ANY ELEMENT TO BEGIN  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2555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STAGE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engineers — Salman, Logesh, Muthamil, and Godfrey — have submitted DEXTRA: a proposal to replace the physical mouse with real-time hand-gesture and voice control. Before this idea reaches sanction, it must clear a structured review: problem framing, technical solution, architecture, technology choices, risk posture, and a final feasibility verdict.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7" name="Image 0" descr="/home/claude/dextra_pptx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problem real?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0" name="Image 1" descr="/home/claude/dextra_pptx/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069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solution sound?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3" name="Image 2" descr="/home/claude/dextra_pptx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69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wrong?</a:t>
            </a:r>
            <a:endParaRPr lang="en-US" sz="1200" dirty="0"/>
          </a:p>
        </p:txBody>
      </p:sp>
      <p:sp>
        <p:nvSpPr>
          <p:cNvPr id="15" name="Shape 10">
            <a:hlinkClick r:id="rId6" action="ppaction://hlinksldjump"/>
          </p:cNvPr>
          <p:cNvSpPr/>
          <p:nvPr/>
        </p:nvSpPr>
        <p:spPr>
          <a:xfrm>
            <a:off x="731520" y="5212080"/>
            <a:ext cx="7498080" cy="777240"/>
          </a:xfrm>
          <a:prstGeom prst="roundRect">
            <a:avLst>
              <a:gd name="adj" fmla="val 49412"/>
            </a:avLst>
          </a:prstGeom>
          <a:solidFill>
            <a:srgbClr val="E8633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1">
            <a:hlinkClick r:id="rId6" action="ppaction://hlinksldjump"/>
          </p:cNvPr>
          <p:cNvSpPr/>
          <p:nvPr/>
        </p:nvSpPr>
        <p:spPr>
          <a:xfrm>
            <a:off x="731520" y="5212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REVIEW BOARD  →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— Reviewed Live</a:t>
            </a:r>
            <a:endParaRPr lang="en-US" sz="2600" dirty="0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54864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dextra_pptx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154" y="1887322"/>
            <a:ext cx="395021" cy="395021"/>
          </a:xfrm>
          <a:prstGeom prst="rect">
            <a:avLst/>
          </a:prstGeom>
        </p:spPr>
      </p:pic>
      <p:sp>
        <p:nvSpPr>
          <p:cNvPr id="7" name="Text 4">
            <a:hlinkClick r:id="rId3" action="ppaction://hlinksldjump"/>
          </p:cNvPr>
          <p:cNvSpPr/>
          <p:nvPr/>
        </p:nvSpPr>
        <p:spPr>
          <a:xfrm>
            <a:off x="65836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Statement</a:t>
            </a:r>
            <a:endParaRPr lang="en-US" sz="1400" dirty="0"/>
          </a:p>
        </p:txBody>
      </p:sp>
      <p:sp>
        <p:nvSpPr>
          <p:cNvPr id="8" name="Text 5">
            <a:hlinkClick r:id="rId3" action="ppaction://hlinksldjump"/>
          </p:cNvPr>
          <p:cNvSpPr/>
          <p:nvPr/>
        </p:nvSpPr>
        <p:spPr>
          <a:xfrm>
            <a:off x="65836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replace the mouse?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>
            <a:hlinkClick r:id="rId5" action="ppaction://hlinksldjump"/>
          </p:cNvPr>
          <p:cNvSpPr/>
          <p:nvPr/>
        </p:nvSpPr>
        <p:spPr>
          <a:xfrm>
            <a:off x="333756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dextra_pptx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074" y="1887322"/>
            <a:ext cx="395021" cy="395021"/>
          </a:xfrm>
          <a:prstGeom prst="rect">
            <a:avLst/>
          </a:prstGeom>
        </p:spPr>
      </p:pic>
      <p:sp>
        <p:nvSpPr>
          <p:cNvPr id="13" name="Text 9">
            <a:hlinkClick r:id="rId5" action="ppaction://hlinksldjump"/>
          </p:cNvPr>
          <p:cNvSpPr/>
          <p:nvPr/>
        </p:nvSpPr>
        <p:spPr>
          <a:xfrm>
            <a:off x="344728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Proposed Solution</a:t>
            </a:r>
            <a:endParaRPr lang="en-US" sz="1400" dirty="0"/>
          </a:p>
        </p:txBody>
      </p:sp>
      <p:sp>
        <p:nvSpPr>
          <p:cNvPr id="14" name="Text 10">
            <a:hlinkClick r:id="rId5" action="ppaction://hlinksldjump"/>
          </p:cNvPr>
          <p:cNvSpPr/>
          <p:nvPr/>
        </p:nvSpPr>
        <p:spPr>
          <a:xfrm>
            <a:off x="344728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MediaPipe + gestures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4728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2">
            <a:hlinkClick r:id="rId7" action="ppaction://hlinksldjump"/>
          </p:cNvPr>
          <p:cNvSpPr/>
          <p:nvPr/>
        </p:nvSpPr>
        <p:spPr>
          <a:xfrm>
            <a:off x="612648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002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/home/claude/dextra_pptx/icons/gesture_h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3994" y="1887322"/>
            <a:ext cx="395021" cy="395021"/>
          </a:xfrm>
          <a:prstGeom prst="rect">
            <a:avLst/>
          </a:prstGeom>
        </p:spPr>
      </p:pic>
      <p:sp>
        <p:nvSpPr>
          <p:cNvPr id="19" name="Text 14">
            <a:hlinkClick r:id="rId7" action="ppaction://hlinksldjump"/>
          </p:cNvPr>
          <p:cNvSpPr/>
          <p:nvPr/>
        </p:nvSpPr>
        <p:spPr>
          <a:xfrm>
            <a:off x="623620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Gesture &amp; Voice Catalog</a:t>
            </a:r>
            <a:endParaRPr lang="en-US" sz="1400" dirty="0"/>
          </a:p>
        </p:txBody>
      </p:sp>
      <p:sp>
        <p:nvSpPr>
          <p:cNvPr id="20" name="Text 15">
            <a:hlinkClick r:id="rId7" action="ppaction://hlinksldjump"/>
          </p:cNvPr>
          <p:cNvSpPr/>
          <p:nvPr/>
        </p:nvSpPr>
        <p:spPr>
          <a:xfrm>
            <a:off x="623620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 gestures · 40+ commands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3620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7">
            <a:hlinkClick r:id="rId9" action="ppaction://hlinksldjump"/>
          </p:cNvPr>
          <p:cNvSpPr/>
          <p:nvPr/>
        </p:nvSpPr>
        <p:spPr>
          <a:xfrm>
            <a:off x="891540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3894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3" descr="/home/claude/dextra_pptx/icons/lay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2914" y="1887322"/>
            <a:ext cx="395021" cy="395021"/>
          </a:xfrm>
          <a:prstGeom prst="rect">
            <a:avLst/>
          </a:prstGeom>
        </p:spPr>
      </p:pic>
      <p:sp>
        <p:nvSpPr>
          <p:cNvPr id="25" name="Text 19">
            <a:hlinkClick r:id="rId9" action="ppaction://hlinksldjump"/>
          </p:cNvPr>
          <p:cNvSpPr/>
          <p:nvPr/>
        </p:nvSpPr>
        <p:spPr>
          <a:xfrm>
            <a:off x="902512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Architecture</a:t>
            </a:r>
            <a:endParaRPr lang="en-US" sz="1400" dirty="0"/>
          </a:p>
        </p:txBody>
      </p:sp>
      <p:sp>
        <p:nvSpPr>
          <p:cNvPr id="26" name="Text 20">
            <a:hlinkClick r:id="rId9" action="ppaction://hlinksldjump"/>
          </p:cNvPr>
          <p:cNvSpPr/>
          <p:nvPr/>
        </p:nvSpPr>
        <p:spPr>
          <a:xfrm>
            <a:off x="902512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modules · data flow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02512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2">
            <a:hlinkClick r:id="rId11" action="ppaction://hlinksldjump"/>
          </p:cNvPr>
          <p:cNvSpPr/>
          <p:nvPr/>
        </p:nvSpPr>
        <p:spPr>
          <a:xfrm>
            <a:off x="54864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47218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4" descr="/home/claude/dextra_pptx/icons/co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6154" y="4401922"/>
            <a:ext cx="395021" cy="395021"/>
          </a:xfrm>
          <a:prstGeom prst="rect">
            <a:avLst/>
          </a:prstGeom>
        </p:spPr>
      </p:pic>
      <p:sp>
        <p:nvSpPr>
          <p:cNvPr id="31" name="Text 24">
            <a:hlinkClick r:id="rId11" action="ppaction://hlinksldjump"/>
          </p:cNvPr>
          <p:cNvSpPr/>
          <p:nvPr/>
        </p:nvSpPr>
        <p:spPr>
          <a:xfrm>
            <a:off x="65836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Technology Stack</a:t>
            </a:r>
            <a:endParaRPr lang="en-US" sz="1400" dirty="0"/>
          </a:p>
        </p:txBody>
      </p:sp>
      <p:sp>
        <p:nvSpPr>
          <p:cNvPr id="32" name="Text 25">
            <a:hlinkClick r:id="rId11" action="ppaction://hlinksldjump"/>
          </p:cNvPr>
          <p:cNvSpPr/>
          <p:nvPr/>
        </p:nvSpPr>
        <p:spPr>
          <a:xfrm>
            <a:off x="65836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Libraries &amp; requirements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5836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Shape 27">
            <a:hlinkClick r:id="rId13" action="ppaction://hlinksldjump"/>
          </p:cNvPr>
          <p:cNvSpPr/>
          <p:nvPr/>
        </p:nvSpPr>
        <p:spPr>
          <a:xfrm>
            <a:off x="333756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26110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5" descr="/home/claude/dextra_pptx/icons/rou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5074" y="4401922"/>
            <a:ext cx="395021" cy="395021"/>
          </a:xfrm>
          <a:prstGeom prst="rect">
            <a:avLst/>
          </a:prstGeom>
        </p:spPr>
      </p:pic>
      <p:sp>
        <p:nvSpPr>
          <p:cNvPr id="37" name="Text 29">
            <a:hlinkClick r:id="rId13" action="ppaction://hlinksldjump"/>
          </p:cNvPr>
          <p:cNvSpPr/>
          <p:nvPr/>
        </p:nvSpPr>
        <p:spPr>
          <a:xfrm>
            <a:off x="344728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Implementation Roadmap</a:t>
            </a:r>
            <a:endParaRPr lang="en-US" sz="1400" dirty="0"/>
          </a:p>
        </p:txBody>
      </p:sp>
      <p:sp>
        <p:nvSpPr>
          <p:cNvPr id="38" name="Text 30">
            <a:hlinkClick r:id="rId13" action="ppaction://hlinksldjump"/>
          </p:cNvPr>
          <p:cNvSpPr/>
          <p:nvPr/>
        </p:nvSpPr>
        <p:spPr>
          <a:xfrm>
            <a:off x="344728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8-week phased plan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344728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Shape 32">
            <a:hlinkClick r:id="rId15" action="ppaction://hlinksldjump"/>
          </p:cNvPr>
          <p:cNvSpPr/>
          <p:nvPr/>
        </p:nvSpPr>
        <p:spPr>
          <a:xfrm>
            <a:off x="612648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05002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2" name="Image 6" descr="/home/claude/dextra_pptx/icons/shiel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3994" y="4401922"/>
            <a:ext cx="395021" cy="395021"/>
          </a:xfrm>
          <a:prstGeom prst="rect">
            <a:avLst/>
          </a:prstGeom>
        </p:spPr>
      </p:pic>
      <p:sp>
        <p:nvSpPr>
          <p:cNvPr id="43" name="Text 34">
            <a:hlinkClick r:id="rId15" action="ppaction://hlinksldjump"/>
          </p:cNvPr>
          <p:cNvSpPr/>
          <p:nvPr/>
        </p:nvSpPr>
        <p:spPr>
          <a:xfrm>
            <a:off x="623620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Risks &amp; Mitigations</a:t>
            </a:r>
            <a:endParaRPr lang="en-US" sz="1400" dirty="0"/>
          </a:p>
        </p:txBody>
      </p:sp>
      <p:sp>
        <p:nvSpPr>
          <p:cNvPr id="44" name="Text 35">
            <a:hlinkClick r:id="rId15" action="ppaction://hlinksldjump"/>
          </p:cNvPr>
          <p:cNvSpPr/>
          <p:nvPr/>
        </p:nvSpPr>
        <p:spPr>
          <a:xfrm>
            <a:off x="623620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could fail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623620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6" name="Shape 37">
            <a:hlinkClick r:id="rId17" action="ppaction://hlinksldjump"/>
          </p:cNvPr>
          <p:cNvSpPr/>
          <p:nvPr/>
        </p:nvSpPr>
        <p:spPr>
          <a:xfrm>
            <a:off x="891540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83894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8" name="Image 7" descr="/home/claude/dextra_pptx/icons/thumbs_u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52914" y="4401922"/>
            <a:ext cx="395021" cy="395021"/>
          </a:xfrm>
          <a:prstGeom prst="rect">
            <a:avLst/>
          </a:prstGeom>
        </p:spPr>
      </p:pic>
      <p:sp>
        <p:nvSpPr>
          <p:cNvPr id="49" name="Text 39">
            <a:hlinkClick r:id="rId17" action="ppaction://hlinksldjump"/>
          </p:cNvPr>
          <p:cNvSpPr/>
          <p:nvPr/>
        </p:nvSpPr>
        <p:spPr>
          <a:xfrm>
            <a:off x="902512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Feasibility Verdict</a:t>
            </a:r>
            <a:endParaRPr lang="en-US" sz="1400" dirty="0"/>
          </a:p>
        </p:txBody>
      </p:sp>
      <p:sp>
        <p:nvSpPr>
          <p:cNvPr id="50" name="Text 40">
            <a:hlinkClick r:id="rId17" action="ppaction://hlinksldjump"/>
          </p:cNvPr>
          <p:cNvSpPr/>
          <p:nvPr/>
        </p:nvSpPr>
        <p:spPr>
          <a:xfrm>
            <a:off x="902512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Leader's decision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902512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REVIEWED BY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mouse has remained the dominant pointing device for over four decades. While reliable, it presents barriers in several real-world scenarios.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313432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dextra_pptx/icons/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244419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768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89864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limited hand mobility or physical disabilities struggle with precise mouse control.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21488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313432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dextra_pptx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463" y="244419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2768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Hygiene-Sensitive Environments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07992" y="289864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and laboratory settings require touchless interaction with computer systems.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21488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2313432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dextra_pptx/icons/exp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935" y="244419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78824" y="22768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Constraints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84464" y="289864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workers and students in crowded spaces often lack a flat surface for mouse operation.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7880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4343400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dextra_pptx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" y="447415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3068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&amp; Kiosk Environments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" y="492861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interfaces have no surface on which a physical mouse can operate.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17880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4343400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/home/claude/dextra_pptx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463" y="4474159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43068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&amp; Repetitive Strain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07992" y="492861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mouse use contributes to RSI (Repetitive Strain Injury).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Leader's read: a touchless alternative would address all five scenarios at once — the framing is broad but not overstated against the source material.</a:t>
            </a:r>
            <a:endParaRPr lang="en-US" sz="1100" dirty="0"/>
          </a:p>
        </p:txBody>
      </p:sp>
      <p:pic>
        <p:nvPicPr>
          <p:cNvPr id="31" name="Image 5" descr="/home/claude/dextra_pptx/icons/arrow_left_whit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2" name="Shape 24">
            <a:hlinkClick r:id="rId8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33" name="Text 25">
            <a:hlinkClick r:id="rId8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Problem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uses a webcam to capture the user's hand in real time. MediaPipe's hand-tracking model identifies 21 landmark points at 30+ frames per second. A Python logic layer interprets the spatial relationships between landmarks to recognize gestures, translated into mouse events via PyAutoGUI.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3566160"/>
            <a:ext cx="45720" cy="109728"/>
          </a:xfrm>
          <a:prstGeom prst="ellipse">
            <a:avLst/>
          </a:prstGeom>
          <a:solidFill>
            <a:srgbClr val="B9C8C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2160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— 21 Landmarks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4224528"/>
            <a:ext cx="45720" cy="109728"/>
          </a:xfrm>
          <a:prstGeom prst="ellipse">
            <a:avLst/>
          </a:prstGeom>
          <a:solidFill>
            <a:srgbClr val="B9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379976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799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42032" y="4882896"/>
            <a:ext cx="45720" cy="109728"/>
          </a:xfrm>
          <a:prstGeom prst="ellipse">
            <a:avLst/>
          </a:prstGeom>
          <a:solidFill>
            <a:srgbClr val="B9C8C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038344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86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383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 Mouse Event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1371600"/>
            <a:ext cx="4343400" cy="4434840"/>
          </a:xfrm>
          <a:prstGeom prst="roundRect">
            <a:avLst>
              <a:gd name="adj" fmla="val 2526"/>
            </a:avLst>
          </a:prstGeom>
          <a:solidFill>
            <a:srgbClr val="0F2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1965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98280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gestures recognized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098280" y="2953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across 6 categories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89520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98280" y="3867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 tracked per frame, 30+ FPS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0" y="4709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98280" y="47823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hardware required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modular Python application targeting Windows, with a clear path to macOS and Linux.</a:t>
            </a:r>
            <a:endParaRPr lang="en-US" sz="1100" dirty="0"/>
          </a:p>
        </p:txBody>
      </p:sp>
      <p:pic>
        <p:nvPicPr>
          <p:cNvPr id="27" name="Image 0" descr="/home/claude/dextra_pptx/icons/arrow_left_whit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8" name="Shape 25">
            <a:hlinkClick r:id="rId3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29" name="Text 26">
            <a:hlinkClick r:id="rId3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Solution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&amp; Voice Command Catalog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gestures across five functional categories map directly to mouse and navigation actions.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858000" cy="41010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Finger 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Cursor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Pinch (index + thumb)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Pinch (&lt;0.35s)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Pinch + Move (&gt;0.6s)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&amp; Drop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+ Thumb Pinch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 &amp;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Fingers Up + Move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Scroll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 &amp;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Flick Left / Right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 Back / Forward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Pinch Expand / Contract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In (Ctrl+) / Out (Ctrl−)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Mgmt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Window (Alt+Tab)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Mgmt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Fingers 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Active Window (Alt+F4)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Palm (still)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/ Rest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Shaka 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Voice Command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78308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dextra_pptx/icons/microphon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65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MODULE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6384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commands · 6 categories · background listening thread via SpeechRecognition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63840" y="2926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6384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up · go back · zoom in · page down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863840" y="3401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86384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· paste · undo · select all · save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863840" y="3877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&amp; Tab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63840" y="4078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tab · split screen · snap left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863840" y="4352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Volume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863840" y="4553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up · mute · play pause · rewind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863840" y="4828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Apps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63840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· lock screen · open terminal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863840" y="5303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Control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863840" y="5504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listening · calibrate · help</a:t>
            </a:r>
            <a:endParaRPr lang="en-US" sz="950" dirty="0"/>
          </a:p>
        </p:txBody>
      </p:sp>
      <p:pic>
        <p:nvPicPr>
          <p:cNvPr id="22" name="Image 1" descr="/home/claude/dextra_pptx/icons/arrow_left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3" name="Shape 18">
            <a:hlinkClick r:id="rId4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24" name="Text 19">
            <a:hlinkClick r:id="rId4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Gestures &amp; Voice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modules communicate via shared state and a thread-safe queue.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dextra_pptx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1226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launches any module from an interactive menu.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1993392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dextra_pptx/icons/gesture_han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1122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8344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gesture_mouse.py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07992" y="245059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— captures frames, runs MediaPipe, maps gestures to PyAutoGUI calls.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18288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1993392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dextra_pptx/icons/microphon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1226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14816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voice_commands.py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84464" y="245059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thread — listens for speech, pushes recognised commands to a shared queue.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4107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3575304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dextra_pptx/icons/cogs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69417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gui_server.py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032504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— bridges the React frontend to settings.json and the webcam stream.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325112" y="34107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3575304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/home/claude/dextra_pptx/icons/slider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69417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38344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settings_gui.py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07992" y="4032504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Settings page — dark-themed panel with sliders/toggles via the API.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101584" y="34107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66176" y="3575304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5" descr="/home/claude/dextra_pptx/icons/graduation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369417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14816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gesture_trainer.py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84464" y="4032504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Trainer page — live camera preview for recording custom gestures to JSON.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5943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Webcam Frame → Pre-processing (flip/RGB) → Hand Detection (21 landmarks) → Gesture Logic → Coordinate Map → Smoothing → Mouse Execution → UI Overlay.</a:t>
            </a:r>
            <a:endParaRPr lang="en-US" sz="1050" dirty="0"/>
          </a:p>
        </p:txBody>
      </p:sp>
      <p:pic>
        <p:nvPicPr>
          <p:cNvPr id="36" name="Image 6" descr="/home/claude/dextra_pptx/icons/arrow_left_white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7" name="Shape 28">
            <a:hlinkClick r:id="rId9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38" name="Text 29">
            <a:hlinkClick r:id="rId9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Requirements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03720" cy="345643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3.8+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for CV, AI, and OS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(cv2)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Webcam capture, frame processing, UI overlay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Hand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21-point real-time hand landmark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PyAutoGUI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OS-level cursor, click, scroll, hotkey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smoothing, interpolation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SpeechRecognition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Speech API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WebSocket bridge to the React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panel and gesture trainer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17320"/>
            <a:ext cx="3931920" cy="4434840"/>
          </a:xfrm>
          <a:prstGeom prst="roundRect">
            <a:avLst>
              <a:gd name="adj" fmla="val 2326"/>
            </a:avLst>
          </a:prstGeom>
          <a:solidFill>
            <a:srgbClr val="0F2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HARDWARE</a:t>
            </a:r>
            <a:endParaRPr lang="en-US" sz="1100" dirty="0"/>
          </a:p>
        </p:txBody>
      </p:sp>
      <p:pic>
        <p:nvPicPr>
          <p:cNvPr id="7" name="Image 0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993392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Webcam: built-in or USB (720p recommended, 480p minimum)</a:t>
            </a:r>
            <a:endParaRPr lang="en-US" sz="1000" dirty="0"/>
          </a:p>
        </p:txBody>
      </p:sp>
      <p:pic>
        <p:nvPicPr>
          <p:cNvPr id="4" name="Image 1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450592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i5 / Ryzen 5 or equivalent (2.0 GHz+)</a:t>
            </a:r>
            <a:endParaRPr lang="en-US" sz="1000" dirty="0"/>
          </a:p>
        </p:txBody>
      </p:sp>
      <p:pic>
        <p:nvPicPr>
          <p:cNvPr id="11" name="Image 2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907792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minimum, 8 GB recommended</a:t>
            </a:r>
            <a:endParaRPr lang="en-US" sz="1000" dirty="0"/>
          </a:p>
        </p:txBody>
      </p:sp>
      <p:pic>
        <p:nvPicPr>
          <p:cNvPr id="13" name="Image 3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364992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Microphone: built-in or external</a:t>
            </a:r>
            <a:endParaRPr lang="en-US" sz="1000" dirty="0"/>
          </a:p>
        </p:txBody>
      </p:sp>
      <p:pic>
        <p:nvPicPr>
          <p:cNvPr id="15" name="Image 4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822192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296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 / 11 (64-bit)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7955280" y="4297680"/>
            <a:ext cx="3383280" cy="0"/>
          </a:xfrm>
          <a:prstGeom prst="line">
            <a:avLst/>
          </a:prstGeom>
          <a:noFill/>
          <a:ln w="12700">
            <a:solidFill>
              <a:srgbClr val="2E5256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795528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DEPENDENCIES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7955280" y="482803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≥0.10 · opencv-python ≥4.8 · pyautogui ≥0.9 · numpy ≥1.24 · SpeechRecognition ≥3.10 · fastapi ≥0.111 · Node.js 18+ (build-time)</a:t>
            </a:r>
            <a:endParaRPr lang="en-US" sz="950" dirty="0"/>
          </a:p>
        </p:txBody>
      </p:sp>
      <p:pic>
        <p:nvPicPr>
          <p:cNvPr id="20" name="Image 5" descr="/home/claude/dextra_pptx/icons/arrow_left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1" name="Shape 12">
            <a:hlinkClick r:id="rId4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22" name="Text 13">
            <a:hlinkClick r:id="rId4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Tech Stack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— 8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41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6" name="Text 4"/>
          <p:cNvSpPr/>
          <p:nvPr/>
        </p:nvSpPr>
        <p:spPr>
          <a:xfrm>
            <a:off x="11841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capture, MediaPipe integration, cursor movement from index finger.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29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29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Gestures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871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double-click, right-click, drag-and-drop, two-finger scroll, smoothing.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17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17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+ PyAudio, background listening, 20+ command mappings.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05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05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GUI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frontend, FastAPI REST endpoints, sliders/toggles for settings.json.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993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30" name="Text 28"/>
          <p:cNvSpPr/>
          <p:nvPr/>
        </p:nvSpPr>
        <p:spPr>
          <a:xfrm>
            <a:off x="84993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552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Trainer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preview via WebSocket, custom gesture capture, JSON persistence.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926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0F2A2E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28148" y="1783080"/>
            <a:ext cx="512064" cy="512064"/>
          </a:xfrm>
          <a:prstGeom prst="ellipse">
            <a:avLst/>
          </a:prstGeom>
          <a:solidFill>
            <a:srgbClr val="E863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3281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Polish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840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023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Cross-lighting testing, FPS profiling, user acceptance testing, packaging.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phases are marked complete in the source roadmap (✓), indicating a fully planned, milestone-driven delivery schedule.</a:t>
            </a:r>
            <a:endParaRPr lang="en-US" sz="1050" dirty="0"/>
          </a:p>
        </p:txBody>
      </p:sp>
      <p:pic>
        <p:nvPicPr>
          <p:cNvPr id="41" name="Image 0" descr="/home/claude/dextra_pptx/icons/arrow_left_whit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42" name="Shape 39">
            <a:hlinkClick r:id="rId3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43" name="Text 40">
            <a:hlinkClick r:id="rId3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Roadmap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6362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527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Reliability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19476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may be inconsistent under poor lighting or background clutter.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landmark filtering, confidence threshold calibration, a defined rest gesture.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8076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636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47688" y="1527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Activations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63640" y="19476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clicks or scrolls can degrade usability.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Hold/delay thresholds, cooldown periods, explicit gesture states.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1181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081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1520" y="35021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systems may struggle with real-time processing.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frame size, tune model settings, optimize the event loop.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80760" y="29718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1181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47688" y="3081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Accuracy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63640" y="35021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may misfire in noisy environments.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can be disabled; commands remain optional.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67258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4636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Jitter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31520" y="50566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tremor causes cursor instability.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smoothing buffer, configurable 1–15 frames.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080760" y="45262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5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4672584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47688" y="4636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Edge Accuracy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263640" y="50566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precision drops at screen edges.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Remapped coordinate interpolation with 10% margin exclusion zones.</a:t>
            </a:r>
            <a:endParaRPr lang="en-US" sz="950" dirty="0"/>
          </a:p>
        </p:txBody>
      </p:sp>
      <p:pic>
        <p:nvPicPr>
          <p:cNvPr id="28" name="Image 6" descr="/home/claude/dextra_pptx/icons/arrow_left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9" name="Shape 20">
            <a:hlinkClick r:id="rId4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30" name="Text 21">
            <a:hlinkClick r:id="rId4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Risks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1255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</a:t>
            </a:r>
            <a:r>
              <a:rPr lang="en-US" sz="1200" b="1" kern="0" spc="200" dirty="0" err="1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TheOrionGD'S</a:t>
            </a: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Verdict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0" y="68580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8633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0" y="685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is both logically developable and deployable. It relies on well-known, available components, follows a modular architecture that supports incremental development, and targets a single desktop operating system initially — which simplifies compatibility and deployment.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9" name="Image 0" descr="/home/claude/dextra_pptx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0815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5935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webcam and microphone only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OS target (Windows) simplifies initial deployment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dependencies beyond common peripherals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gesture-to-action mapping and config layer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288036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3" name="Image 1" descr="/home/claude/dextra_pptx/icons/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30815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5935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 standard package or bundled executable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user-space app without elevated privileges in most cases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persist via a React + FastAPI panel and config files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exposes reliable APIs for cursor control and hotkeys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288036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7" name="Image 2" descr="/home/claude/dextra_pptx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081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35935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core gesture interaction first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configuration persistence and safe defaults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installer / portable package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lighting and camera setup guidance</a:t>
            </a:r>
            <a:endParaRPr lang="en-US" sz="1000" dirty="0"/>
          </a:p>
        </p:txBody>
      </p:sp>
      <p:pic>
        <p:nvPicPr>
          <p:cNvPr id="20" name="Image 3" descr="/home/claude/dextra_pptx/icons/arrow_left_whit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55080"/>
            <a:ext cx="201168" cy="201168"/>
          </a:xfrm>
          <a:prstGeom prst="rect">
            <a:avLst/>
          </a:prstGeom>
        </p:spPr>
      </p:pic>
      <p:sp>
        <p:nvSpPr>
          <p:cNvPr id="21" name="Text 15">
            <a:hlinkClick r:id="rId6" action="ppaction://hlinksldjump"/>
          </p:cNvPr>
          <p:cNvSpPr/>
          <p:nvPr/>
        </p:nvSpPr>
        <p:spPr>
          <a:xfrm>
            <a:off x="841248" y="6327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22" name="Text 16">
            <a:hlinkClick r:id="rId8" action="ppaction://hlinksldjump"/>
          </p:cNvPr>
          <p:cNvSpPr/>
          <p:nvPr/>
        </p:nvSpPr>
        <p:spPr>
          <a:xfrm>
            <a:off x="7680960" y="6327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u="sng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TO SANCTION DECISION  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255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49240" y="868680"/>
            <a:ext cx="1463040" cy="14630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124907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SANCTIONED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DEXTRA moves to Phase 1 — Foundation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Salman · Logesh · Muthamil · Godfrey   |   Target: Windows 10/11 desktop utility   |   Start: Week 1, Foundation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4617720"/>
            <a:ext cx="3657600" cy="0"/>
          </a:xfrm>
          <a:prstGeom prst="line">
            <a:avLst/>
          </a:prstGeom>
          <a:noFill/>
          <a:ln w="12700">
            <a:solidFill>
              <a:srgbClr val="2E525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6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"DEXTRA demonstrates that a practical, hardware-free mouse replacement is achievable today using freely available open-source tools."</a:t>
            </a:r>
            <a:endParaRPr lang="en-US" sz="1500" dirty="0"/>
          </a:p>
        </p:txBody>
      </p:sp>
      <p:pic>
        <p:nvPicPr>
          <p:cNvPr id="10" name="Image 1" descr="/home/claude/dextra_pptx/icons/grid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55080"/>
            <a:ext cx="201168" cy="201168"/>
          </a:xfrm>
          <a:prstGeom prst="rect">
            <a:avLst/>
          </a:prstGeom>
        </p:spPr>
      </p:pic>
      <p:sp>
        <p:nvSpPr>
          <p:cNvPr id="11" name="Text 7">
            <a:hlinkClick r:id="rId4" action="ppaction://hlinksldjump"/>
          </p:cNvPr>
          <p:cNvSpPr/>
          <p:nvPr/>
        </p:nvSpPr>
        <p:spPr>
          <a:xfrm>
            <a:off x="841248" y="6327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8FA3A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 TO REVIEW 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1636</Words>
  <Application>Microsoft Office PowerPoint</Application>
  <PresentationFormat>Widescreen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DEXTRA — Proposal Review</dc:title>
  <dc:subject>PptxGenJS Presentation</dc:subject>
  <dc:creator>DEXTRA Team</dc:creator>
  <cp:lastModifiedBy>TheOrion GD</cp:lastModifiedBy>
  <cp:revision>2</cp:revision>
  <dcterms:created xsi:type="dcterms:W3CDTF">2026-06-17T08:45:25Z</dcterms:created>
  <dcterms:modified xsi:type="dcterms:W3CDTF">2026-06-17T08:49:40Z</dcterms:modified>
</cp:coreProperties>
</file>