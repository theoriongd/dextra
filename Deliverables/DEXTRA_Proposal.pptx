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58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889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slide" Target="slide4.xml"/><Relationship Id="rId4" Type="http://schemas.openxmlformats.org/officeDocument/2006/relationships/image" Target="../media/image3.png"/><Relationship Id="rId5" Type="http://schemas.openxmlformats.org/officeDocument/2006/relationships/slide" Target="slide5.xml"/><Relationship Id="rId6" Type="http://schemas.openxmlformats.org/officeDocument/2006/relationships/image" Target="../media/image4.png"/><Relationship Id="rId7" Type="http://schemas.openxmlformats.org/officeDocument/2006/relationships/slide" Target="slide6.xml"/><Relationship Id="rId8" Type="http://schemas.openxmlformats.org/officeDocument/2006/relationships/image" Target="../media/image1.png"/><Relationship Id="rId9" Type="http://schemas.openxmlformats.org/officeDocument/2006/relationships/slide" Target="slide7.xml"/><Relationship Id="rId10" Type="http://schemas.openxmlformats.org/officeDocument/2006/relationships/image" Target="../media/image6.png"/><Relationship Id="rId11" Type="http://schemas.openxmlformats.org/officeDocument/2006/relationships/slide" Target="slide8.xml"/><Relationship Id="rId12" Type="http://schemas.openxmlformats.org/officeDocument/2006/relationships/image" Target="../media/image7.png"/><Relationship Id="rId13" Type="http://schemas.openxmlformats.org/officeDocument/2006/relationships/slide" Target="slide9.xml"/><Relationship Id="rId14" Type="http://schemas.openxmlformats.org/officeDocument/2006/relationships/image" Target="../media/image8.png"/><Relationship Id="rId15" Type="http://schemas.openxmlformats.org/officeDocument/2006/relationships/slide" Target="slide10.xml"/><Relationship Id="rId16" Type="http://schemas.openxmlformats.org/officeDocument/2006/relationships/image" Target="../media/image5.png"/><Relationship Id="rId17" Type="http://schemas.openxmlformats.org/officeDocument/2006/relationships/slide" Target="slide11.xml"/><Relationship Id="rId18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slide" Target="slide3.xml"/><Relationship Id="rId9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slide" Target="slide3.xml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slide" Target="slide3.xml"/><Relationship Id="rId5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5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slide" Target="slide3.xml"/><Relationship Id="rId10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slide" Target="slide3.xml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slide" Target="slide3.xml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Relationship Id="rId4" Type="http://schemas.openxmlformats.org/officeDocument/2006/relationships/slide" Target="slide3.xml"/><Relationship Id="rId5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image" Target="../media/image8.png"/><Relationship Id="rId6" Type="http://schemas.openxmlformats.org/officeDocument/2006/relationships/slide" Target="slide3.xml"/><Relationship Id="rId7" Type="http://schemas.openxmlformats.org/officeDocument/2006/relationships/image" Target="../media/image14.png"/><Relationship Id="rId8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Relationship Id="rId4" Type="http://schemas.openxmlformats.org/officeDocument/2006/relationships/slide" Target="slide3.xml"/><Relationship Id="rId5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754880" cy="4754880"/>
          </a:xfrm>
          <a:prstGeom prst="ellipse">
            <a:avLst/>
          </a:prstGeom>
          <a:solidFill>
            <a:srgbClr val="12555C">
              <a:alpha val="6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291840"/>
            <a:ext cx="3291840" cy="329184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SUBMISSION  ·  FY26 INNOVATION REVIEW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868680" cy="868680"/>
          </a:xfrm>
          <a:prstGeom prst="ellipse">
            <a:avLst/>
          </a:prstGeom>
          <a:solidFill>
            <a:srgbClr val="12555C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/home/claude/dextra_pptx/icons/gesture_h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377" y="146029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2402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DEXTRA</a:t>
            </a:r>
            <a:endParaRPr lang="en-US" sz="6400" dirty="0"/>
          </a:p>
        </p:txBody>
      </p:sp>
      <p:sp>
        <p:nvSpPr>
          <p:cNvPr id="8" name="Text 5"/>
          <p:cNvSpPr/>
          <p:nvPr/>
        </p:nvSpPr>
        <p:spPr>
          <a:xfrm>
            <a:off x="731520" y="33375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Without Contact — Gesture-Driven Computing, Reimagined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1520" y="3977640"/>
            <a:ext cx="6949440" cy="0"/>
          </a:xfrm>
          <a:prstGeom prst="line">
            <a:avLst/>
          </a:prstGeom>
          <a:noFill/>
          <a:ln w="12700">
            <a:solidFill>
              <a:srgbClr val="2E5256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31520" y="41605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Ideator: Harihar R (@HARIHAR1406)  ·  Submitted by: Mohamed Salman P · Logesh M · Muthamil V · Godfrey T 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" y="452628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 </a:t>
            </a:r>
            <a:r>
              <a:rPr lang="en-US" sz="1400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· OpenCV · PyAutoGUI · Python · React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493776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 ·  June 2026  ·  Confidential — For Internal Use Only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" y="5623560"/>
            <a:ext cx="7498080" cy="685800"/>
          </a:xfrm>
          <a:prstGeom prst="roundRect">
            <a:avLst>
              <a:gd name="adj" fmla="val 13333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</p:spPr>
        <p:txBody>
          <a:bodyPr/>
          <a:p/>
        </p:txBody>
      </p:sp>
      <p:pic>
        <p:nvPicPr>
          <p:cNvPr id="14" name="Image 1" descr="/home/claude/dextra_pptx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779008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417320" y="562356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 has been routed to the </a:t>
            </a:r>
            <a:r>
              <a:rPr lang="en-US" sz="1300" i="1" dirty="0" err="1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TheOrionGD</a:t>
            </a:r>
            <a:r>
              <a:rPr lang="en-US" sz="1300" i="1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structured review →</a:t>
            </a:r>
            <a:endParaRPr lang="en-US" sz="1300" dirty="0"/>
          </a:p>
        </p:txBody>
      </p:sp>
      <p:sp>
        <p:nvSpPr>
          <p:cNvPr id="16" name="Text 12">
            <a:hlinkClick r:id="rId5" action="ppaction://hlinksldjump"/>
          </p:cNvPr>
          <p:cNvSpPr/>
          <p:nvPr/>
        </p:nvSpPr>
        <p:spPr>
          <a:xfrm>
            <a:off x="8503920" y="6400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u="sng" dirty="0">
                <a:solidFill>
                  <a:srgbClr val="6F868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CLICK ANY ELEMENT TO BEGIN  ›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5486400" cy="5486400"/>
          </a:xfrm>
          <a:prstGeom prst="ellipse">
            <a:avLst/>
          </a:prstGeom>
          <a:solidFill>
            <a:srgbClr val="12555C">
              <a:alpha val="55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777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STAGE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Proposal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t>Conceived by system ideator Harihar R (@HARIHAR1406) and developed by module leads Mohamed Salman P, Logesh M, Muthamil V, and Godfrey T R, DEXTRA replaces the physical mouse with real-time hand-gesture and voice control. Before this idea reaches sanction, it must clear a structured review: problem framing, technical solution, architecture, technology choices, risk posture, and a final feasibility verdict.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384048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</p:spPr>
        <p:txBody>
          <a:bodyPr/>
          <a:p/>
        </p:txBody>
      </p:sp>
      <p:pic>
        <p:nvPicPr>
          <p:cNvPr id="7" name="Image 0" descr="/home/claude/dextra_pptx/icons/ques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69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384048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problem real?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337560" y="384048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home/claude/dextra_pptx/icons/fla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406908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14800" y="384048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solution sound?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943600" y="384048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/home/claude/dextra_pptx/icons/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406908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720840" y="384048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go wrong?</a:t>
            </a:r>
            <a:endParaRPr lang="en-US" sz="1200" dirty="0"/>
          </a:p>
        </p:txBody>
      </p:sp>
      <p:sp>
        <p:nvSpPr>
          <p:cNvPr id="15" name="Shape 10">
            <a:hlinkClick r:id="rId6" action="ppaction://hlinksldjump"/>
          </p:cNvPr>
          <p:cNvSpPr/>
          <p:nvPr/>
        </p:nvSpPr>
        <p:spPr>
          <a:xfrm>
            <a:off x="731520" y="5212080"/>
            <a:ext cx="7498080" cy="777240"/>
          </a:xfrm>
          <a:prstGeom prst="roundRect">
            <a:avLst>
              <a:gd name="adj" fmla="val 49412"/>
            </a:avLst>
          </a:prstGeom>
          <a:solidFill>
            <a:srgbClr val="E8633D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1">
            <a:hlinkClick r:id="rId6" action="ppaction://hlinksldjump"/>
          </p:cNvPr>
          <p:cNvSpPr/>
          <p:nvPr/>
        </p:nvSpPr>
        <p:spPr>
          <a:xfrm>
            <a:off x="731520" y="52120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REVIEW BOARD  →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a Section — Reviewed Live</a:t>
            </a:r>
            <a:endParaRPr lang="en-US" sz="2600" dirty="0"/>
          </a:p>
        </p:txBody>
      </p:sp>
      <p:sp>
        <p:nvSpPr>
          <p:cNvPr id="4" name="Shape 2">
            <a:hlinkClick r:id="rId3" action="ppaction://hlinksldjump"/>
          </p:cNvPr>
          <p:cNvSpPr/>
          <p:nvPr/>
        </p:nvSpPr>
        <p:spPr>
          <a:xfrm>
            <a:off x="548640" y="1417320"/>
            <a:ext cx="2670048" cy="2331720"/>
          </a:xfrm>
          <a:prstGeom prst="roundRect">
            <a:avLst>
              <a:gd name="adj" fmla="val 3922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72184" y="1673352"/>
            <a:ext cx="822960" cy="822960"/>
          </a:xfrm>
          <a:prstGeom prst="ellipse">
            <a:avLst/>
          </a:prstGeom>
          <a:solidFill>
            <a:srgbClr val="1C7293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6" name="Image 0" descr="/home/claude/dextra_pptx/icons/ques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6154" y="1887322"/>
            <a:ext cx="395021" cy="395021"/>
          </a:xfrm>
          <a:prstGeom prst="rect">
            <a:avLst/>
          </a:prstGeom>
        </p:spPr>
      </p:pic>
      <p:sp>
        <p:nvSpPr>
          <p:cNvPr id="7" name="Text 4">
            <a:hlinkClick r:id="rId3" action="ppaction://hlinksldjump"/>
          </p:cNvPr>
          <p:cNvSpPr/>
          <p:nvPr/>
        </p:nvSpPr>
        <p:spPr>
          <a:xfrm>
            <a:off x="658368" y="265176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Problem Statement</a:t>
            </a:r>
            <a:endParaRPr lang="en-US" sz="1400" dirty="0"/>
          </a:p>
        </p:txBody>
      </p:sp>
      <p:sp>
        <p:nvSpPr>
          <p:cNvPr id="8" name="Text 5">
            <a:hlinkClick r:id="rId3" action="ppaction://hlinksldjump"/>
          </p:cNvPr>
          <p:cNvSpPr/>
          <p:nvPr/>
        </p:nvSpPr>
        <p:spPr>
          <a:xfrm>
            <a:off x="658368" y="313639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u="sng" dirty="0">
                <a:solidFill>
                  <a:srgbClr val="9FB6B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Why replace the mouse?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58368" y="1508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A7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Shape 7">
            <a:hlinkClick r:id="rId5" action="ppaction://hlinksldjump"/>
          </p:cNvPr>
          <p:cNvSpPr/>
          <p:nvPr/>
        </p:nvSpPr>
        <p:spPr>
          <a:xfrm>
            <a:off x="3337560" y="1417320"/>
            <a:ext cx="2670048" cy="2331720"/>
          </a:xfrm>
          <a:prstGeom prst="roundRect">
            <a:avLst>
              <a:gd name="adj" fmla="val 3922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61104" y="1673352"/>
            <a:ext cx="822960" cy="822960"/>
          </a:xfrm>
          <a:prstGeom prst="ellipse">
            <a:avLst/>
          </a:prstGeom>
          <a:solidFill>
            <a:srgbClr val="1C7293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2" name="Image 1" descr="/home/claude/dextra_pptx/icons/flas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074" y="1887322"/>
            <a:ext cx="395021" cy="395021"/>
          </a:xfrm>
          <a:prstGeom prst="rect">
            <a:avLst/>
          </a:prstGeom>
        </p:spPr>
      </p:pic>
      <p:sp>
        <p:nvSpPr>
          <p:cNvPr id="13" name="Text 9">
            <a:hlinkClick r:id="rId5" action="ppaction://hlinksldjump"/>
          </p:cNvPr>
          <p:cNvSpPr/>
          <p:nvPr/>
        </p:nvSpPr>
        <p:spPr>
          <a:xfrm>
            <a:off x="3447288" y="265176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Proposed Solution</a:t>
            </a:r>
            <a:endParaRPr lang="en-US" sz="1400" dirty="0"/>
          </a:p>
        </p:txBody>
      </p:sp>
      <p:sp>
        <p:nvSpPr>
          <p:cNvPr id="14" name="Text 10">
            <a:hlinkClick r:id="rId5" action="ppaction://hlinksldjump"/>
          </p:cNvPr>
          <p:cNvSpPr/>
          <p:nvPr/>
        </p:nvSpPr>
        <p:spPr>
          <a:xfrm>
            <a:off x="3447288" y="313639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u="sng" dirty="0">
                <a:solidFill>
                  <a:srgbClr val="9FB6B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MediaPipe + gestures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3447288" y="1508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A7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Shape 12">
            <a:hlinkClick r:id="rId7" action="ppaction://hlinksldjump"/>
          </p:cNvPr>
          <p:cNvSpPr/>
          <p:nvPr/>
        </p:nvSpPr>
        <p:spPr>
          <a:xfrm>
            <a:off x="6126480" y="1417320"/>
            <a:ext cx="2670048" cy="2331720"/>
          </a:xfrm>
          <a:prstGeom prst="roundRect">
            <a:avLst>
              <a:gd name="adj" fmla="val 3922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50024" y="1673352"/>
            <a:ext cx="822960" cy="822960"/>
          </a:xfrm>
          <a:prstGeom prst="ellipse">
            <a:avLst/>
          </a:prstGeom>
          <a:solidFill>
            <a:srgbClr val="1C7293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8" name="Image 2" descr="/home/claude/dextra_pptx/icons/gesture_h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3994" y="1887322"/>
            <a:ext cx="395021" cy="395021"/>
          </a:xfrm>
          <a:prstGeom prst="rect">
            <a:avLst/>
          </a:prstGeom>
        </p:spPr>
      </p:pic>
      <p:sp>
        <p:nvSpPr>
          <p:cNvPr id="19" name="Text 14">
            <a:hlinkClick r:id="rId7" action="ppaction://hlinksldjump"/>
          </p:cNvPr>
          <p:cNvSpPr/>
          <p:nvPr/>
        </p:nvSpPr>
        <p:spPr>
          <a:xfrm>
            <a:off x="6236208" y="265176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Gesture &amp; Voice Catalog</a:t>
            </a:r>
            <a:endParaRPr lang="en-US" sz="1400" dirty="0"/>
          </a:p>
        </p:txBody>
      </p:sp>
      <p:sp>
        <p:nvSpPr>
          <p:cNvPr id="20" name="Text 15">
            <a:hlinkClick r:id="rId7" action="ppaction://hlinksldjump"/>
          </p:cNvPr>
          <p:cNvSpPr/>
          <p:nvPr/>
        </p:nvSpPr>
        <p:spPr>
          <a:xfrm>
            <a:off x="6236208" y="313639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u="sng" dirty="0">
                <a:solidFill>
                  <a:srgbClr val="9FB6B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22 gestures · 40+ commands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236208" y="1508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A7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Shape 17">
            <a:hlinkClick r:id="rId9" action="ppaction://hlinksldjump"/>
          </p:cNvPr>
          <p:cNvSpPr/>
          <p:nvPr/>
        </p:nvSpPr>
        <p:spPr>
          <a:xfrm>
            <a:off x="8915400" y="1417320"/>
            <a:ext cx="2670048" cy="2331720"/>
          </a:xfrm>
          <a:prstGeom prst="roundRect">
            <a:avLst>
              <a:gd name="adj" fmla="val 3922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838944" y="1673352"/>
            <a:ext cx="822960" cy="822960"/>
          </a:xfrm>
          <a:prstGeom prst="ellipse">
            <a:avLst/>
          </a:prstGeom>
          <a:solidFill>
            <a:srgbClr val="1C7293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4" name="Image 3" descr="/home/claude/dextra_pptx/icons/layer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2914" y="1887322"/>
            <a:ext cx="395021" cy="395021"/>
          </a:xfrm>
          <a:prstGeom prst="rect">
            <a:avLst/>
          </a:prstGeom>
        </p:spPr>
      </p:pic>
      <p:sp>
        <p:nvSpPr>
          <p:cNvPr id="25" name="Text 19">
            <a:hlinkClick r:id="rId9" action="ppaction://hlinksldjump"/>
          </p:cNvPr>
          <p:cNvSpPr/>
          <p:nvPr/>
        </p:nvSpPr>
        <p:spPr>
          <a:xfrm>
            <a:off x="9025128" y="265176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System Architecture</a:t>
            </a:r>
            <a:endParaRPr lang="en-US" sz="1400" dirty="0"/>
          </a:p>
        </p:txBody>
      </p:sp>
      <p:sp>
        <p:nvSpPr>
          <p:cNvPr id="26" name="Text 20">
            <a:hlinkClick r:id="rId9" action="ppaction://hlinksldjump"/>
          </p:cNvPr>
          <p:cNvSpPr/>
          <p:nvPr/>
        </p:nvSpPr>
        <p:spPr>
          <a:xfrm>
            <a:off x="9025128" y="313639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u="sng" dirty="0">
                <a:solidFill>
                  <a:srgbClr val="9FB6B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 modules · data flow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9025128" y="1508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A7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Shape 22">
            <a:hlinkClick r:id="rId11" action="ppaction://hlinksldjump"/>
          </p:cNvPr>
          <p:cNvSpPr/>
          <p:nvPr/>
        </p:nvSpPr>
        <p:spPr>
          <a:xfrm>
            <a:off x="548640" y="3931920"/>
            <a:ext cx="2670048" cy="2331720"/>
          </a:xfrm>
          <a:prstGeom prst="roundRect">
            <a:avLst>
              <a:gd name="adj" fmla="val 3922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472184" y="4187952"/>
            <a:ext cx="822960" cy="822960"/>
          </a:xfrm>
          <a:prstGeom prst="ellipse">
            <a:avLst/>
          </a:prstGeom>
          <a:solidFill>
            <a:srgbClr val="1C7293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30" name="Image 4" descr="/home/claude/dextra_pptx/icons/cod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6154" y="4401922"/>
            <a:ext cx="395021" cy="395021"/>
          </a:xfrm>
          <a:prstGeom prst="rect">
            <a:avLst/>
          </a:prstGeom>
        </p:spPr>
      </p:pic>
      <p:sp>
        <p:nvSpPr>
          <p:cNvPr id="31" name="Text 24">
            <a:hlinkClick r:id="rId11" action="ppaction://hlinksldjump"/>
          </p:cNvPr>
          <p:cNvSpPr/>
          <p:nvPr/>
        </p:nvSpPr>
        <p:spPr>
          <a:xfrm>
            <a:off x="658368" y="516636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Technology Stack</a:t>
            </a:r>
            <a:endParaRPr lang="en-US" sz="1400" dirty="0"/>
          </a:p>
        </p:txBody>
      </p:sp>
      <p:sp>
        <p:nvSpPr>
          <p:cNvPr id="32" name="Text 25">
            <a:hlinkClick r:id="rId11" action="ppaction://hlinksldjump"/>
          </p:cNvPr>
          <p:cNvSpPr/>
          <p:nvPr/>
        </p:nvSpPr>
        <p:spPr>
          <a:xfrm>
            <a:off x="658368" y="565099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u="sng" dirty="0">
                <a:solidFill>
                  <a:srgbClr val="9FB6B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Libraries &amp; requirements</a:t>
            </a:r>
            <a:endParaRPr lang="en-US" sz="1050" dirty="0"/>
          </a:p>
        </p:txBody>
      </p:sp>
      <p:sp>
        <p:nvSpPr>
          <p:cNvPr id="33" name="Text 26"/>
          <p:cNvSpPr/>
          <p:nvPr/>
        </p:nvSpPr>
        <p:spPr>
          <a:xfrm>
            <a:off x="658368" y="4023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A7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4" name="Shape 27">
            <a:hlinkClick r:id="rId13" action="ppaction://hlinksldjump"/>
          </p:cNvPr>
          <p:cNvSpPr/>
          <p:nvPr/>
        </p:nvSpPr>
        <p:spPr>
          <a:xfrm>
            <a:off x="3337560" y="3931920"/>
            <a:ext cx="2670048" cy="2331720"/>
          </a:xfrm>
          <a:prstGeom prst="roundRect">
            <a:avLst>
              <a:gd name="adj" fmla="val 3922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4261104" y="4187952"/>
            <a:ext cx="822960" cy="822960"/>
          </a:xfrm>
          <a:prstGeom prst="ellipse">
            <a:avLst/>
          </a:prstGeom>
          <a:solidFill>
            <a:srgbClr val="1C7293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36" name="Image 5" descr="/home/claude/dextra_pptx/icons/rou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75074" y="4401922"/>
            <a:ext cx="395021" cy="395021"/>
          </a:xfrm>
          <a:prstGeom prst="rect">
            <a:avLst/>
          </a:prstGeom>
        </p:spPr>
      </p:pic>
      <p:sp>
        <p:nvSpPr>
          <p:cNvPr id="37" name="Text 29">
            <a:hlinkClick r:id="rId13" action="ppaction://hlinksldjump"/>
          </p:cNvPr>
          <p:cNvSpPr/>
          <p:nvPr/>
        </p:nvSpPr>
        <p:spPr>
          <a:xfrm>
            <a:off x="3447288" y="516636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Implementation Roadmap</a:t>
            </a:r>
            <a:endParaRPr lang="en-US" sz="1400" dirty="0"/>
          </a:p>
        </p:txBody>
      </p:sp>
      <p:sp>
        <p:nvSpPr>
          <p:cNvPr id="38" name="Text 30">
            <a:hlinkClick r:id="rId13" action="ppaction://hlinksldjump"/>
          </p:cNvPr>
          <p:cNvSpPr/>
          <p:nvPr/>
        </p:nvSpPr>
        <p:spPr>
          <a:xfrm>
            <a:off x="3447288" y="565099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u="sng" dirty="0">
                <a:solidFill>
                  <a:srgbClr val="9FB6B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8-week phased plan</a:t>
            </a:r>
            <a:endParaRPr lang="en-US" sz="1050" dirty="0"/>
          </a:p>
        </p:txBody>
      </p:sp>
      <p:sp>
        <p:nvSpPr>
          <p:cNvPr id="39" name="Text 31"/>
          <p:cNvSpPr/>
          <p:nvPr/>
        </p:nvSpPr>
        <p:spPr>
          <a:xfrm>
            <a:off x="3447288" y="4023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A7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0" name="Shape 32">
            <a:hlinkClick r:id="rId15" action="ppaction://hlinksldjump"/>
          </p:cNvPr>
          <p:cNvSpPr/>
          <p:nvPr/>
        </p:nvSpPr>
        <p:spPr>
          <a:xfrm>
            <a:off x="6126480" y="3931920"/>
            <a:ext cx="2670048" cy="2331720"/>
          </a:xfrm>
          <a:prstGeom prst="roundRect">
            <a:avLst>
              <a:gd name="adj" fmla="val 3922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7050024" y="4187952"/>
            <a:ext cx="822960" cy="822960"/>
          </a:xfrm>
          <a:prstGeom prst="ellipse">
            <a:avLst/>
          </a:prstGeom>
          <a:solidFill>
            <a:srgbClr val="1C7293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42" name="Image 6" descr="/home/claude/dextra_pptx/icons/shiel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63994" y="4401922"/>
            <a:ext cx="395021" cy="395021"/>
          </a:xfrm>
          <a:prstGeom prst="rect">
            <a:avLst/>
          </a:prstGeom>
        </p:spPr>
      </p:pic>
      <p:sp>
        <p:nvSpPr>
          <p:cNvPr id="43" name="Text 34">
            <a:hlinkClick r:id="rId15" action="ppaction://hlinksldjump"/>
          </p:cNvPr>
          <p:cNvSpPr/>
          <p:nvPr/>
        </p:nvSpPr>
        <p:spPr>
          <a:xfrm>
            <a:off x="6236208" y="516636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Risks &amp; Mitigations</a:t>
            </a:r>
            <a:endParaRPr lang="en-US" sz="1400" dirty="0"/>
          </a:p>
        </p:txBody>
      </p:sp>
      <p:sp>
        <p:nvSpPr>
          <p:cNvPr id="44" name="Text 35">
            <a:hlinkClick r:id="rId15" action="ppaction://hlinksldjump"/>
          </p:cNvPr>
          <p:cNvSpPr/>
          <p:nvPr/>
        </p:nvSpPr>
        <p:spPr>
          <a:xfrm>
            <a:off x="6236208" y="565099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u="sng" dirty="0">
                <a:solidFill>
                  <a:srgbClr val="9FB6B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could fail</a:t>
            </a:r>
            <a:endParaRPr lang="en-US" sz="1050" dirty="0"/>
          </a:p>
        </p:txBody>
      </p:sp>
      <p:sp>
        <p:nvSpPr>
          <p:cNvPr id="45" name="Text 36"/>
          <p:cNvSpPr/>
          <p:nvPr/>
        </p:nvSpPr>
        <p:spPr>
          <a:xfrm>
            <a:off x="6236208" y="4023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A7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46" name="Shape 37">
            <a:hlinkClick r:id="rId17" action="ppaction://hlinksldjump"/>
          </p:cNvPr>
          <p:cNvSpPr/>
          <p:nvPr/>
        </p:nvSpPr>
        <p:spPr>
          <a:xfrm>
            <a:off x="8915400" y="3931920"/>
            <a:ext cx="2670048" cy="2331720"/>
          </a:xfrm>
          <a:prstGeom prst="roundRect">
            <a:avLst>
              <a:gd name="adj" fmla="val 3922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9838944" y="4187952"/>
            <a:ext cx="822960" cy="822960"/>
          </a:xfrm>
          <a:prstGeom prst="ellipse">
            <a:avLst/>
          </a:prstGeom>
          <a:solidFill>
            <a:srgbClr val="1C7293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48" name="Image 7" descr="/home/claude/dextra_pptx/icons/thumbs_up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052914" y="4401922"/>
            <a:ext cx="395021" cy="395021"/>
          </a:xfrm>
          <a:prstGeom prst="rect">
            <a:avLst/>
          </a:prstGeom>
        </p:spPr>
      </p:pic>
      <p:sp>
        <p:nvSpPr>
          <p:cNvPr id="49" name="Text 39">
            <a:hlinkClick r:id="rId17" action="ppaction://hlinksldjump"/>
          </p:cNvPr>
          <p:cNvSpPr/>
          <p:nvPr/>
        </p:nvSpPr>
        <p:spPr>
          <a:xfrm>
            <a:off x="9025128" y="516636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Feasibility Verdict</a:t>
            </a:r>
            <a:endParaRPr lang="en-US" sz="1400" dirty="0"/>
          </a:p>
        </p:txBody>
      </p:sp>
      <p:sp>
        <p:nvSpPr>
          <p:cNvPr id="50" name="Text 40">
            <a:hlinkClick r:id="rId17" action="ppaction://hlinksldjump"/>
          </p:cNvPr>
          <p:cNvSpPr/>
          <p:nvPr/>
        </p:nvSpPr>
        <p:spPr>
          <a:xfrm>
            <a:off x="9025128" y="565099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u="sng" dirty="0">
                <a:solidFill>
                  <a:srgbClr val="9FB6B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Leader's decision</a:t>
            </a:r>
            <a:endParaRPr lang="en-US" sz="1050" dirty="0"/>
          </a:p>
        </p:txBody>
      </p:sp>
      <p:sp>
        <p:nvSpPr>
          <p:cNvPr id="51" name="Text 41"/>
          <p:cNvSpPr/>
          <p:nvPr/>
        </p:nvSpPr>
        <p:spPr>
          <a:xfrm>
            <a:off x="9025128" y="4023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A7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 · REVIEWED BY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24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mouse has remained the dominant pointing device for over four decades. While reliable, it presents barriers in several real-world scenarios.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2313432"/>
            <a:ext cx="502920" cy="502920"/>
          </a:xfrm>
          <a:prstGeom prst="ellipse">
            <a:avLst/>
          </a:prstGeom>
          <a:solidFill>
            <a:srgbClr val="12555C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7" name="Image 0" descr="/home/claude/dextra_pptx/icons/accessi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" y="2444191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227685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898648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with limited hand mobility or physical disabilities struggle with precise mouse control.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25112" y="214884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9704" y="2313432"/>
            <a:ext cx="502920" cy="502920"/>
          </a:xfrm>
          <a:prstGeom prst="ellipse">
            <a:avLst/>
          </a:prstGeom>
          <a:solidFill>
            <a:srgbClr val="12555C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2" name="Image 1" descr="/home/claude/dextra_pptx/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0463" y="2444191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02352" y="227685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Hygiene-Sensitive Environments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507992" y="2898648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and laboratory settings require touchless interaction with computer systems.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01584" y="214884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66176" y="2313432"/>
            <a:ext cx="502920" cy="502920"/>
          </a:xfrm>
          <a:prstGeom prst="ellipse">
            <a:avLst/>
          </a:prstGeom>
          <a:solidFill>
            <a:srgbClr val="12555C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7" name="Image 2" descr="/home/claude/dextra_pptx/icons/exp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6935" y="2444191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878824" y="227685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Constraints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8284464" y="2898648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workers and students in crowded spaces often lack a flat surface for mouse operation.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4178808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13232" y="4343400"/>
            <a:ext cx="502920" cy="502920"/>
          </a:xfrm>
          <a:prstGeom prst="ellipse">
            <a:avLst/>
          </a:prstGeom>
          <a:solidFill>
            <a:srgbClr val="12555C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2" name="Image 3" descr="/home/claude/dextra_pptx/icons/camer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991" y="4474159"/>
            <a:ext cx="241402" cy="24140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25880" y="430682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AR/VR &amp; Kiosk Environments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731520" y="4928616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 interfaces have no surface on which a physical mouse can operate.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25112" y="4178808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489704" y="4343400"/>
            <a:ext cx="502920" cy="502920"/>
          </a:xfrm>
          <a:prstGeom prst="ellipse">
            <a:avLst/>
          </a:prstGeom>
          <a:solidFill>
            <a:srgbClr val="12555C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7" name="Image 4" descr="/home/claude/dextra_pptx/icons/bo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0463" y="4474159"/>
            <a:ext cx="241402" cy="24140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102352" y="430682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&amp; Repetitive Strain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4507992" y="4928616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Prolonged mouse use contributes to RSI (Repetitive Strain Injury).</a:t>
            </a:r>
            <a:endParaRPr lang="en-US" sz="1050" dirty="0"/>
          </a:p>
        </p:txBody>
      </p:sp>
      <p:sp>
        <p:nvSpPr>
          <p:cNvPr id="30" name="Text 23"/>
          <p:cNvSpPr/>
          <p:nvPr/>
        </p:nvSpPr>
        <p:spPr>
          <a:xfrm>
            <a:off x="54864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Leader's read: a touchless alternative would address all five scenarios at once — the framing is broad but not overstated against the source material.</a:t>
            </a:r>
            <a:endParaRPr lang="en-US" sz="1100" dirty="0"/>
          </a:p>
        </p:txBody>
      </p:sp>
      <p:pic>
        <p:nvPicPr>
          <p:cNvPr id="31" name="Image 5" descr="/home/claude/dextra_pptx/icons/arrow_left_white.png">
            <a:hlinkClick r:id="rId8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382512"/>
            <a:ext cx="201168" cy="201168"/>
          </a:xfrm>
          <a:prstGeom prst="rect">
            <a:avLst/>
          </a:prstGeom>
        </p:spPr>
      </p:pic>
      <p:sp>
        <p:nvSpPr>
          <p:cNvPr id="32" name="Shape 24">
            <a:hlinkClick r:id="rId8" action="ppaction://hlinksldjump"/>
          </p:cNvPr>
          <p:cNvSpPr/>
          <p:nvPr/>
        </p:nvSpPr>
        <p:spPr>
          <a:xfrm>
            <a:off x="548640" y="6355080"/>
            <a:ext cx="2148840" cy="365760"/>
          </a:xfrm>
          <a:prstGeom prst="rect">
            <a:avLst/>
          </a:prstGeom>
          <a:solidFill>
            <a:srgbClr val="0F2A2E">
              <a:alpha val="0"/>
            </a:srgbClr>
          </a:solidFill>
          <a:ln/>
        </p:spPr>
      </p:sp>
      <p:sp>
        <p:nvSpPr>
          <p:cNvPr id="33" name="Text 25">
            <a:hlinkClick r:id="rId8" action="ppaction://hlinksldjump"/>
          </p:cNvPr>
          <p:cNvSpPr/>
          <p:nvPr/>
        </p:nvSpPr>
        <p:spPr>
          <a:xfrm>
            <a:off x="841248" y="6355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u="sng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REVIEW BOARD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8778240" y="6382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DEXTRA Review · Problem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 · REVIEWED BY </a:t>
            </a:r>
            <a:r>
              <a:rPr lang="en-US" sz="1200" b="1" kern="0" spc="200" dirty="0" err="1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TheOrionGD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24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DEXTRA uses a webcam to capture the user's hand in real time. MediaPipe's hand-tracking model identifies 21 landmark points at 30+ frames per second. A Python logic layer interprets the spatial relationships between landmarks to recognize gestures, translated into mouse events via PyAutoGUI.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4206240" cy="502920"/>
          </a:xfrm>
          <a:prstGeom prst="roundRect">
            <a:avLst>
              <a:gd name="adj" fmla="val 14545"/>
            </a:avLst>
          </a:prstGeom>
          <a:solidFill>
            <a:srgbClr val="EFF6F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063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Frame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42032" y="3566160"/>
            <a:ext cx="45720" cy="109728"/>
          </a:xfrm>
          <a:prstGeom prst="ellipse">
            <a:avLst/>
          </a:prstGeom>
          <a:solidFill>
            <a:srgbClr val="B9C8C6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721608"/>
            <a:ext cx="4206240" cy="502920"/>
          </a:xfrm>
          <a:prstGeom prst="roundRect">
            <a:avLst>
              <a:gd name="adj" fmla="val 14545"/>
            </a:avLst>
          </a:prstGeom>
          <a:solidFill>
            <a:srgbClr val="EFF6F5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7216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— 21 Landmarks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42032" y="4224528"/>
            <a:ext cx="45720" cy="109728"/>
          </a:xfrm>
          <a:prstGeom prst="ellipse">
            <a:avLst/>
          </a:prstGeom>
          <a:solidFill>
            <a:srgbClr val="B9C8C6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379976"/>
            <a:ext cx="4206240" cy="502920"/>
          </a:xfrm>
          <a:prstGeom prst="roundRect">
            <a:avLst>
              <a:gd name="adj" fmla="val 14545"/>
            </a:avLst>
          </a:prstGeom>
          <a:solidFill>
            <a:srgbClr val="EFF6F5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37997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 Logic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42032" y="4882896"/>
            <a:ext cx="45720" cy="109728"/>
          </a:xfrm>
          <a:prstGeom prst="ellipse">
            <a:avLst/>
          </a:prstGeom>
          <a:solidFill>
            <a:srgbClr val="B9C8C6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5038344"/>
            <a:ext cx="4206240" cy="502920"/>
          </a:xfrm>
          <a:prstGeom prst="roundRect">
            <a:avLst>
              <a:gd name="adj" fmla="val 14545"/>
            </a:avLst>
          </a:prstGeom>
          <a:solidFill>
            <a:srgbClr val="E8633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503834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PyAutoGUI Mouse Event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1371600"/>
            <a:ext cx="4343400" cy="4434840"/>
          </a:xfrm>
          <a:prstGeom prst="roundRect">
            <a:avLst>
              <a:gd name="adj" fmla="val 2526"/>
            </a:avLst>
          </a:prstGeom>
          <a:solidFill>
            <a:srgbClr val="0F2A2E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895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VALUE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589520" y="1965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098280" y="203911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gestures recognized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589520" y="28803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40+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9098280" y="295351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commands across 6 categories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589520" y="37947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9098280" y="386791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landmarks tracked per frame, 30+ FPS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589520" y="4709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098280" y="478231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hardware required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59893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as a modular Python application targeting Windows, with a clear path to macOS and Linux.</a:t>
            </a:r>
            <a:endParaRPr lang="en-US" sz="1100" dirty="0"/>
          </a:p>
        </p:txBody>
      </p:sp>
      <p:pic>
        <p:nvPicPr>
          <p:cNvPr id="27" name="Image 0" descr="/home/claude/dextra_pptx/icons/arrow_left_white.png">
            <a:hlinkClick r:id="rId3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382512"/>
            <a:ext cx="201168" cy="201168"/>
          </a:xfrm>
          <a:prstGeom prst="rect">
            <a:avLst/>
          </a:prstGeom>
        </p:spPr>
      </p:pic>
      <p:sp>
        <p:nvSpPr>
          <p:cNvPr id="28" name="Shape 25">
            <a:hlinkClick r:id="rId3" action="ppaction://hlinksldjump"/>
          </p:cNvPr>
          <p:cNvSpPr/>
          <p:nvPr/>
        </p:nvSpPr>
        <p:spPr>
          <a:xfrm>
            <a:off x="548640" y="6355080"/>
            <a:ext cx="2148840" cy="365760"/>
          </a:xfrm>
          <a:prstGeom prst="rect">
            <a:avLst/>
          </a:prstGeom>
          <a:solidFill>
            <a:srgbClr val="0F2A2E">
              <a:alpha val="0"/>
            </a:srgbClr>
          </a:solidFill>
          <a:ln/>
        </p:spPr>
      </p:sp>
      <p:sp>
        <p:nvSpPr>
          <p:cNvPr id="29" name="Text 26">
            <a:hlinkClick r:id="rId3" action="ppaction://hlinksldjump"/>
          </p:cNvPr>
          <p:cNvSpPr/>
          <p:nvPr/>
        </p:nvSpPr>
        <p:spPr>
          <a:xfrm>
            <a:off x="841248" y="6355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u="sng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REVIEW BOARD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8778240" y="6382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DEXTRA Review · Solution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 · REVIEWED BY </a:t>
            </a:r>
            <a:r>
              <a:rPr lang="en-US" sz="1200" b="1" kern="0" spc="200" dirty="0" err="1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TheOrionGD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Gesture &amp; Voice Command Catalog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24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gestures across five functional categories map directly to mouse and navigation actions.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858000" cy="4101084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5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5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5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Cursor &amp; Click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Finger 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Cursor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Cursor &amp; Click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Pinch (index + thumb)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Click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Cursor &amp; Click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 Pinch (&lt;0.35s)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 Click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Cursor &amp; Click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Pinch + Move (&gt;0.6s)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Drag &amp; Drop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Cursor &amp; Click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 + Thumb Pinch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Click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Scroll &amp; Nav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Fingers Up + Move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Vertical Scroll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Scroll &amp; Nav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Wrist Flick Left / Right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Navigate Back / Forward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Zoom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Pinch Expand / Contract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Zoom In (Ctrl+) / Out (Ctrl−)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Mgmt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V-Spread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 Window (Alt+Tab)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Mgmt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Fingers 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Active Window (Alt+F4)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Palm (still)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Freeze / Rest Mode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Shaka Sign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Toggle Voice Command Mode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783080"/>
            <a:ext cx="3977640" cy="4114800"/>
          </a:xfrm>
          <a:prstGeom prst="roundRect">
            <a:avLst>
              <a:gd name="adj" fmla="val 2299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5" name="Image 0" descr="/home/claude/dextra_pptx/icons/microphon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96596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32104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COMMAND MODULE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863840" y="2377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commands · 6 categories · background listening thread via SpeechRecognition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863840" y="29260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5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7863840" y="31272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up · go back · zoom in · page down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0" y="34015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5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863840" y="36027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· paste · undo · select all · save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863840" y="387705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5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&amp; Tab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863840" y="4078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tab · split screen · snap left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0" y="435254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5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&amp; Volume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863840" y="45537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up · mute · play pause · rewind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863840" y="48280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5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&amp; Apps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7863840" y="5029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· lock screen · open terminal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863840" y="5303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5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DEXTRA Control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7863840" y="55046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listening · calibrate · help</a:t>
            </a:r>
            <a:endParaRPr lang="en-US" sz="950" dirty="0"/>
          </a:p>
        </p:txBody>
      </p:sp>
      <p:pic>
        <p:nvPicPr>
          <p:cNvPr id="22" name="Image 1" descr="/home/claude/dextra_pptx/icons/arrow_left_white.png">
            <a:hlinkClick r:id="rId4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6382512"/>
            <a:ext cx="201168" cy="201168"/>
          </a:xfrm>
          <a:prstGeom prst="rect">
            <a:avLst/>
          </a:prstGeom>
        </p:spPr>
      </p:pic>
      <p:sp>
        <p:nvSpPr>
          <p:cNvPr id="23" name="Shape 18">
            <a:hlinkClick r:id="rId4" action="ppaction://hlinksldjump"/>
          </p:cNvPr>
          <p:cNvSpPr/>
          <p:nvPr/>
        </p:nvSpPr>
        <p:spPr>
          <a:xfrm>
            <a:off x="548640" y="6355080"/>
            <a:ext cx="2148840" cy="365760"/>
          </a:xfrm>
          <a:prstGeom prst="rect">
            <a:avLst/>
          </a:prstGeom>
          <a:solidFill>
            <a:srgbClr val="0F2A2E">
              <a:alpha val="0"/>
            </a:srgbClr>
          </a:solidFill>
          <a:ln/>
        </p:spPr>
      </p:sp>
      <p:sp>
        <p:nvSpPr>
          <p:cNvPr id="24" name="Text 19">
            <a:hlinkClick r:id="rId4" action="ppaction://hlinksldjump"/>
          </p:cNvPr>
          <p:cNvSpPr/>
          <p:nvPr/>
        </p:nvSpPr>
        <p:spPr>
          <a:xfrm>
            <a:off x="841248" y="6355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u="sng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REVIEW BOARD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8778240" y="6382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DEXTRA Review · Gestures &amp; Voice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04 · REVIEWED BY </a:t>
            </a:r>
            <a:r>
              <a:rPr lang="en-US" sz="1200" b="1" kern="0" spc="200" dirty="0" err="1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TheOrionGD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24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independent modules communicate via shared state and a thread-safe queue.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993392"/>
            <a:ext cx="457200" cy="457200"/>
          </a:xfrm>
          <a:prstGeom prst="ellipse">
            <a:avLst/>
          </a:prstGeom>
          <a:solidFill>
            <a:srgbClr val="D7E8E6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7" name="Image 0" descr="/home/claude/dextra_pptx/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21122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61872" y="197510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31520" y="2450592"/>
            <a:ext cx="3246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 — launches any module from an interactive menu.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25112" y="18288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9704" y="1993392"/>
            <a:ext cx="457200" cy="457200"/>
          </a:xfrm>
          <a:prstGeom prst="ellipse">
            <a:avLst/>
          </a:prstGeom>
          <a:solidFill>
            <a:srgbClr val="D7E8E6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2" name="Image 1" descr="/home/claude/dextra_pptx/icons/gesture_hand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576" y="2112264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38344" y="197510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gesture_mouse.py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507992" y="2450592"/>
            <a:ext cx="3246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engine — captures frames, runs MediaPipe, maps gestures to PyAutoGUI calls.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8101584" y="18288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66176" y="1993392"/>
            <a:ext cx="457200" cy="457200"/>
          </a:xfrm>
          <a:prstGeom prst="ellipse">
            <a:avLst/>
          </a:prstGeom>
          <a:solidFill>
            <a:srgbClr val="D7E8E6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7" name="Image 2" descr="/home/claude/dextra_pptx/icons/microphone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5048" y="21122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814816" y="197510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voice_commands.py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8284464" y="2450592"/>
            <a:ext cx="3246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Daemon thread — listens for speech, pushes recognised commands to a shared queue.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548640" y="3410712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13232" y="3575304"/>
            <a:ext cx="457200" cy="457200"/>
          </a:xfrm>
          <a:prstGeom prst="ellipse">
            <a:avLst/>
          </a:prstGeom>
          <a:solidFill>
            <a:srgbClr val="D7E8E6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2" name="Image 3" descr="/home/claude/dextra_pptx/icons/cogs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" y="3694176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61872" y="35570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gui_server.py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731520" y="4032504"/>
            <a:ext cx="3246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server — bridges the React frontend to settings.json and the webcam stream.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325112" y="3410712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489704" y="3575304"/>
            <a:ext cx="457200" cy="457200"/>
          </a:xfrm>
          <a:prstGeom prst="ellipse">
            <a:avLst/>
          </a:prstGeom>
          <a:solidFill>
            <a:srgbClr val="D7E8E6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7" name="Image 4" descr="/home/claude/dextra_pptx/icons/sliders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8576" y="3694176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038344" y="35570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settings_gui.py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4507992" y="4032504"/>
            <a:ext cx="3246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Settings page — dark-themed panel with sliders/toggles via the API.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8101584" y="3410712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66176" y="3575304"/>
            <a:ext cx="457200" cy="457200"/>
          </a:xfrm>
          <a:prstGeom prst="ellipse">
            <a:avLst/>
          </a:prstGeom>
          <a:solidFill>
            <a:srgbClr val="D7E8E6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32" name="Image 5" descr="/home/claude/dextra_pptx/icons/graduation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5048" y="3694176"/>
            <a:ext cx="219456" cy="21945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814816" y="35570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gesture_trainer.py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8284464" y="4032504"/>
            <a:ext cx="3246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Trainer page — live camera preview for recording custom gestures to JSON.</a:t>
            </a:r>
            <a:endParaRPr lang="en-US" sz="950" dirty="0"/>
          </a:p>
        </p:txBody>
      </p:sp>
      <p:sp>
        <p:nvSpPr>
          <p:cNvPr id="35" name="Text 27"/>
          <p:cNvSpPr/>
          <p:nvPr/>
        </p:nvSpPr>
        <p:spPr>
          <a:xfrm>
            <a:off x="548640" y="594360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flow: Webcam Frame → Pre-processing (flip/RGB) → Hand Detection (21 landmarks) → Gesture Logic → Coordinate Map → Smoothing → Mouse Execution → UI Overlay.</a:t>
            </a:r>
            <a:endParaRPr lang="en-US" sz="1050" dirty="0"/>
          </a:p>
        </p:txBody>
      </p:sp>
      <p:pic>
        <p:nvPicPr>
          <p:cNvPr id="36" name="Image 6" descr="/home/claude/dextra_pptx/icons/arrow_left_white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382512"/>
            <a:ext cx="201168" cy="201168"/>
          </a:xfrm>
          <a:prstGeom prst="rect">
            <a:avLst/>
          </a:prstGeom>
        </p:spPr>
      </p:pic>
      <p:sp>
        <p:nvSpPr>
          <p:cNvPr id="37" name="Shape 28">
            <a:hlinkClick r:id="rId9" action="ppaction://hlinksldjump"/>
          </p:cNvPr>
          <p:cNvSpPr/>
          <p:nvPr/>
        </p:nvSpPr>
        <p:spPr>
          <a:xfrm>
            <a:off x="548640" y="6355080"/>
            <a:ext cx="2148840" cy="365760"/>
          </a:xfrm>
          <a:prstGeom prst="rect">
            <a:avLst/>
          </a:prstGeom>
          <a:solidFill>
            <a:srgbClr val="0F2A2E">
              <a:alpha val="0"/>
            </a:srgbClr>
          </a:solidFill>
          <a:ln/>
        </p:spPr>
      </p:sp>
      <p:sp>
        <p:nvSpPr>
          <p:cNvPr id="38" name="Text 29">
            <a:hlinkClick r:id="rId9" action="ppaction://hlinksldjump"/>
          </p:cNvPr>
          <p:cNvSpPr/>
          <p:nvPr/>
        </p:nvSpPr>
        <p:spPr>
          <a:xfrm>
            <a:off x="841248" y="6355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u="sng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REVIEW BOARD</a:t>
            </a:r>
            <a:endParaRPr lang="en-US" sz="1100" dirty="0"/>
          </a:p>
        </p:txBody>
      </p:sp>
      <p:sp>
        <p:nvSpPr>
          <p:cNvPr id="39" name="Text 30"/>
          <p:cNvSpPr/>
          <p:nvPr/>
        </p:nvSpPr>
        <p:spPr>
          <a:xfrm>
            <a:off x="8778240" y="6382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DEXTRA Review · Architecture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05 · REVIEWED BY </a:t>
            </a:r>
            <a:r>
              <a:rPr lang="en-US" sz="1200" b="1" kern="0" spc="200" dirty="0" err="1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TheOrionGD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 &amp; Requirements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903720" cy="3456432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5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5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5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3.8+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language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Ecosystem for CV, AI, and OS 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OpenCV (cv2)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Computer Vision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Webcam capture, frame processing, UI overlay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MediaPipe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/ Hand Tracking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21-point real-time hand landmark detection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PyAutoGUI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Mouse 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OS-level cursor, click, scroll, hotkey 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Mathematics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Coordinate smoothing, interpolation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SpeechRecognition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Voice Input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Speech API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+ uvicorn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+ WebSocket bridge to the React frontend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18 + Vite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 Framework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24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Settings panel and gesture trainer 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417320"/>
            <a:ext cx="3931920" cy="4434840"/>
          </a:xfrm>
          <a:prstGeom prst="roundRect">
            <a:avLst>
              <a:gd name="adj" fmla="val 2326"/>
            </a:avLst>
          </a:prstGeom>
          <a:solidFill>
            <a:srgbClr val="0F2A2E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5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HARDWARE</a:t>
            </a:r>
            <a:endParaRPr lang="en-US" sz="1100" dirty="0"/>
          </a:p>
        </p:txBody>
      </p:sp>
      <p:pic>
        <p:nvPicPr>
          <p:cNvPr id="7" name="Image 0" descr="/home/claude/dextra_pptx/icons/check_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1993392"/>
            <a:ext cx="164592" cy="1645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0" y="1965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9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Webcam: built-in or USB (720p recommended, 480p minimum)</a:t>
            </a:r>
            <a:endParaRPr lang="en-US" sz="1000" dirty="0"/>
          </a:p>
        </p:txBody>
      </p:sp>
      <p:pic>
        <p:nvPicPr>
          <p:cNvPr id="4" name="Image 1" descr="/home/claude/dextra_pptx/icons/check_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450592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229600" y="2423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9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Processor: i5 / Ryzen 5 or equivalent (2.0 GHz+)</a:t>
            </a:r>
            <a:endParaRPr lang="en-US" sz="1000" dirty="0"/>
          </a:p>
        </p:txBody>
      </p:sp>
      <p:pic>
        <p:nvPicPr>
          <p:cNvPr id="11" name="Image 2" descr="/home/claude/dextra_pptx/icons/check_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907792"/>
            <a:ext cx="164592" cy="16459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229600" y="28803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9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RAM: 4 GB minimum, 8 GB recommended</a:t>
            </a:r>
            <a:endParaRPr lang="en-US" sz="1000" dirty="0"/>
          </a:p>
        </p:txBody>
      </p:sp>
      <p:pic>
        <p:nvPicPr>
          <p:cNvPr id="13" name="Image 3" descr="/home/claude/dextra_pptx/icons/check_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3364992"/>
            <a:ext cx="164592" cy="16459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8229600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9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Microphone: built-in or external</a:t>
            </a:r>
            <a:endParaRPr lang="en-US" sz="1000" dirty="0"/>
          </a:p>
        </p:txBody>
      </p:sp>
      <p:pic>
        <p:nvPicPr>
          <p:cNvPr id="15" name="Image 4" descr="/home/claude/dextra_pptx/icons/check_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3822192"/>
            <a:ext cx="164592" cy="164592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229600" y="3794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9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OS: Windows 10 / 11 (64-bit)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7955280" y="4297680"/>
            <a:ext cx="3383280" cy="0"/>
          </a:xfrm>
          <a:prstGeom prst="line">
            <a:avLst/>
          </a:prstGeom>
          <a:noFill/>
          <a:ln w="12700">
            <a:solidFill>
              <a:srgbClr val="2E5256"/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7955280" y="4480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5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DEPENDENCIES</a:t>
            </a:r>
            <a:endParaRPr lang="en-US" sz="1100" dirty="0"/>
          </a:p>
        </p:txBody>
      </p:sp>
      <p:sp>
        <p:nvSpPr>
          <p:cNvPr id="19" name="Text 11"/>
          <p:cNvSpPr/>
          <p:nvPr/>
        </p:nvSpPr>
        <p:spPr>
          <a:xfrm>
            <a:off x="7955280" y="482803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≥0.10 · opencv-python ≥4.8 · pyautogui ≥0.9 · numpy ≥1.24 · SpeechRecognition ≥3.10 · fastapi ≥0.111 · Node.js 18+ (build-time)</a:t>
            </a:r>
            <a:endParaRPr lang="en-US" sz="950" dirty="0"/>
          </a:p>
        </p:txBody>
      </p:sp>
      <p:pic>
        <p:nvPicPr>
          <p:cNvPr id="20" name="Image 5" descr="/home/claude/dextra_pptx/icons/arrow_left_white.png">
            <a:hlinkClick r:id="rId4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6382512"/>
            <a:ext cx="201168" cy="201168"/>
          </a:xfrm>
          <a:prstGeom prst="rect">
            <a:avLst/>
          </a:prstGeom>
        </p:spPr>
      </p:pic>
      <p:sp>
        <p:nvSpPr>
          <p:cNvPr id="21" name="Shape 12">
            <a:hlinkClick r:id="rId4" action="ppaction://hlinksldjump"/>
          </p:cNvPr>
          <p:cNvSpPr/>
          <p:nvPr/>
        </p:nvSpPr>
        <p:spPr>
          <a:xfrm>
            <a:off x="548640" y="6355080"/>
            <a:ext cx="2148840" cy="365760"/>
          </a:xfrm>
          <a:prstGeom prst="rect">
            <a:avLst/>
          </a:prstGeom>
          <a:solidFill>
            <a:srgbClr val="0F2A2E">
              <a:alpha val="0"/>
            </a:srgbClr>
          </a:solidFill>
          <a:ln/>
        </p:spPr>
      </p:sp>
      <p:sp>
        <p:nvSpPr>
          <p:cNvPr id="22" name="Text 13">
            <a:hlinkClick r:id="rId4" action="ppaction://hlinksldjump"/>
          </p:cNvPr>
          <p:cNvSpPr/>
          <p:nvPr/>
        </p:nvSpPr>
        <p:spPr>
          <a:xfrm>
            <a:off x="841248" y="6355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u="sng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REVIEW BOARD</a:t>
            </a:r>
            <a:endParaRPr lang="en-US" sz="1100" dirty="0"/>
          </a:p>
        </p:txBody>
      </p:sp>
      <p:sp>
        <p:nvSpPr>
          <p:cNvPr id="23" name="Text 14"/>
          <p:cNvSpPr/>
          <p:nvPr/>
        </p:nvSpPr>
        <p:spPr>
          <a:xfrm>
            <a:off x="8778240" y="6382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DEXTRA Review · Tech Stack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06 · REVIEWED BY </a:t>
            </a:r>
            <a:r>
              <a:rPr lang="en-US" sz="1200" b="1" kern="0" spc="200" dirty="0" err="1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TheOrionGD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Roadmap — 8 Weeks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783080" cy="4160520"/>
          </a:xfrm>
          <a:prstGeom prst="roundRect">
            <a:avLst>
              <a:gd name="adj" fmla="val 4615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84148" y="1783080"/>
            <a:ext cx="512064" cy="512064"/>
          </a:xfrm>
          <a:prstGeom prst="ellipse">
            <a:avLst/>
          </a:prstGeom>
          <a:solidFill>
            <a:srgbClr val="12555C"/>
          </a:solidFill>
          <a:ln/>
        </p:spPr>
      </p:sp>
      <p:sp>
        <p:nvSpPr>
          <p:cNvPr id="6" name="Text 4"/>
          <p:cNvSpPr/>
          <p:nvPr/>
        </p:nvSpPr>
        <p:spPr>
          <a:xfrm>
            <a:off x="1184148" y="17830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1–2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3246120"/>
            <a:ext cx="15636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90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capture, MediaPipe integration, cursor movement from index finger.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377440" y="1554480"/>
            <a:ext cx="1783080" cy="4160520"/>
          </a:xfrm>
          <a:prstGeom prst="roundRect">
            <a:avLst>
              <a:gd name="adj" fmla="val 4615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12948" y="1783080"/>
            <a:ext cx="512064" cy="512064"/>
          </a:xfrm>
          <a:prstGeom prst="ellipse">
            <a:avLst/>
          </a:prstGeom>
          <a:solidFill>
            <a:srgbClr val="12555C"/>
          </a:solidFill>
          <a:ln/>
        </p:spPr>
      </p:sp>
      <p:sp>
        <p:nvSpPr>
          <p:cNvPr id="12" name="Text 10"/>
          <p:cNvSpPr/>
          <p:nvPr/>
        </p:nvSpPr>
        <p:spPr>
          <a:xfrm>
            <a:off x="3012948" y="17830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68880" y="24231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Gestures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68880" y="2880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3–4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487168" y="3246120"/>
            <a:ext cx="15636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90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Click, double-click, right-click, drag-and-drop, two-finger scroll, smoothing.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06240" y="1554480"/>
            <a:ext cx="1783080" cy="4160520"/>
          </a:xfrm>
          <a:prstGeom prst="roundRect">
            <a:avLst>
              <a:gd name="adj" fmla="val 4615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1748" y="1783080"/>
            <a:ext cx="512064" cy="512064"/>
          </a:xfrm>
          <a:prstGeom prst="ellipse">
            <a:avLst/>
          </a:prstGeom>
          <a:solidFill>
            <a:srgbClr val="12555C"/>
          </a:solidFill>
          <a:ln/>
        </p:spPr>
      </p:sp>
      <p:sp>
        <p:nvSpPr>
          <p:cNvPr id="18" name="Text 16"/>
          <p:cNvSpPr/>
          <p:nvPr/>
        </p:nvSpPr>
        <p:spPr>
          <a:xfrm>
            <a:off x="4841748" y="17830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97680" y="24231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Commands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0" y="2880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15968" y="3246120"/>
            <a:ext cx="15636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90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SpeechRecognition + PyAudio, background listening, 20+ command mappings.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5040" y="1554480"/>
            <a:ext cx="1783080" cy="4160520"/>
          </a:xfrm>
          <a:prstGeom prst="roundRect">
            <a:avLst>
              <a:gd name="adj" fmla="val 4615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70548" y="1783080"/>
            <a:ext cx="512064" cy="512064"/>
          </a:xfrm>
          <a:prstGeom prst="ellipse">
            <a:avLst/>
          </a:prstGeom>
          <a:solidFill>
            <a:srgbClr val="12555C"/>
          </a:solidFill>
          <a:ln/>
        </p:spPr>
      </p:sp>
      <p:sp>
        <p:nvSpPr>
          <p:cNvPr id="24" name="Text 22"/>
          <p:cNvSpPr/>
          <p:nvPr/>
        </p:nvSpPr>
        <p:spPr>
          <a:xfrm>
            <a:off x="6670548" y="17830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126480" y="24231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GUI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126480" y="2880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44768" y="3246120"/>
            <a:ext cx="15636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90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frontend, FastAPI REST endpoints, sliders/toggles for settings.json.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863840" y="1554480"/>
            <a:ext cx="1783080" cy="4160520"/>
          </a:xfrm>
          <a:prstGeom prst="roundRect">
            <a:avLst>
              <a:gd name="adj" fmla="val 4615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99348" y="1783080"/>
            <a:ext cx="512064" cy="512064"/>
          </a:xfrm>
          <a:prstGeom prst="ellipse">
            <a:avLst/>
          </a:prstGeom>
          <a:solidFill>
            <a:srgbClr val="12555C"/>
          </a:solidFill>
          <a:ln/>
        </p:spPr>
      </p:sp>
      <p:sp>
        <p:nvSpPr>
          <p:cNvPr id="30" name="Text 28"/>
          <p:cNvSpPr/>
          <p:nvPr/>
        </p:nvSpPr>
        <p:spPr>
          <a:xfrm>
            <a:off x="8499348" y="17830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955280" y="24231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 Trainer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2880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7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973568" y="3246120"/>
            <a:ext cx="15636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90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preview via WebSocket, custom gesture capture, JSON persistence.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692640" y="1554480"/>
            <a:ext cx="1783080" cy="4160520"/>
          </a:xfrm>
          <a:prstGeom prst="roundRect">
            <a:avLst>
              <a:gd name="adj" fmla="val 4615"/>
            </a:avLst>
          </a:prstGeom>
          <a:solidFill>
            <a:srgbClr val="0F2A2E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328148" y="1783080"/>
            <a:ext cx="512064" cy="512064"/>
          </a:xfrm>
          <a:prstGeom prst="ellipse">
            <a:avLst/>
          </a:prstGeom>
          <a:solidFill>
            <a:srgbClr val="E8633D"/>
          </a:solidFill>
          <a:ln/>
        </p:spPr>
      </p:sp>
      <p:sp>
        <p:nvSpPr>
          <p:cNvPr id="36" name="Text 34"/>
          <p:cNvSpPr/>
          <p:nvPr/>
        </p:nvSpPr>
        <p:spPr>
          <a:xfrm>
            <a:off x="10328148" y="17830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784080" y="24231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Polish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784080" y="2880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8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802368" y="3246120"/>
            <a:ext cx="15636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900" dirty="0">
                <a:solidFill>
                  <a:srgbClr val="DCE9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Cross-lighting testing, FPS profiling, user acceptance testing, packaging.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48640" y="59436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phases are marked complete in the source roadmap (✓), indicating a fully planned, milestone-driven delivery schedule.</a:t>
            </a:r>
            <a:endParaRPr lang="en-US" sz="1050" dirty="0"/>
          </a:p>
        </p:txBody>
      </p:sp>
      <p:pic>
        <p:nvPicPr>
          <p:cNvPr id="41" name="Image 0" descr="/home/claude/dextra_pptx/icons/arrow_left_white.png">
            <a:hlinkClick r:id="rId3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382512"/>
            <a:ext cx="201168" cy="201168"/>
          </a:xfrm>
          <a:prstGeom prst="rect">
            <a:avLst/>
          </a:prstGeom>
        </p:spPr>
      </p:pic>
      <p:sp>
        <p:nvSpPr>
          <p:cNvPr id="42" name="Shape 39">
            <a:hlinkClick r:id="rId3" action="ppaction://hlinksldjump"/>
          </p:cNvPr>
          <p:cNvSpPr/>
          <p:nvPr/>
        </p:nvSpPr>
        <p:spPr>
          <a:xfrm>
            <a:off x="548640" y="6355080"/>
            <a:ext cx="2148840" cy="365760"/>
          </a:xfrm>
          <a:prstGeom prst="rect">
            <a:avLst/>
          </a:prstGeom>
          <a:solidFill>
            <a:srgbClr val="0F2A2E">
              <a:alpha val="0"/>
            </a:srgbClr>
          </a:solidFill>
          <a:ln/>
        </p:spPr>
      </p:sp>
      <p:sp>
        <p:nvSpPr>
          <p:cNvPr id="43" name="Text 40">
            <a:hlinkClick r:id="rId3" action="ppaction://hlinksldjump"/>
          </p:cNvPr>
          <p:cNvSpPr/>
          <p:nvPr/>
        </p:nvSpPr>
        <p:spPr>
          <a:xfrm>
            <a:off x="841248" y="6355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u="sng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REVIEW BOARD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778240" y="6382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DEXTRA Review · Roadmap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07 · REVIEWED BY </a:t>
            </a:r>
            <a:r>
              <a:rPr lang="en-US" sz="1200" b="1" kern="0" spc="200" dirty="0" err="1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TheOrionGD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Mitigations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5" name="Image 0" descr="/home/claude/dextra_pptx/icons/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563624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15568" y="152704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 Reliability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31520" y="1947672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</a:t>
            </a: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may be inconsistent under poor lighting or background clutter.  </a:t>
            </a:r>
            <a:r>
              <a:rPr lang="en-US" sz="950" b="1" dirty="0">
                <a:solidFill>
                  <a:srgbClr val="125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</a:t>
            </a: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landmark filtering, confidence threshold calibration, a defined rest gesture.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080760" y="141732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9" name="Image 1" descr="/home/claude/dextra_pptx/icons/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563624"/>
            <a:ext cx="292608" cy="2926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647688" y="152704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Activations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6263640" y="1947672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</a:t>
            </a: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Accidental clicks or scrolls can degrade usability.  </a:t>
            </a:r>
            <a:r>
              <a:rPr lang="en-US" sz="950" b="1" dirty="0">
                <a:solidFill>
                  <a:srgbClr val="125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</a:t>
            </a: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Hold/delay thresholds, cooldown periods, explicit gesture states.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548640" y="297180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3" name="Image 2" descr="/home/claude/dextra_pptx/icons/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118104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15568" y="308152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731520" y="3502152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</a:t>
            </a: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Low-end systems may struggle with real-time processing.  </a:t>
            </a:r>
            <a:r>
              <a:rPr lang="en-US" sz="950" b="1" dirty="0">
                <a:solidFill>
                  <a:srgbClr val="125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</a:t>
            </a: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frame size, tune model settings, optimize the event loop.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080760" y="297180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7" name="Image 3" descr="/home/claude/dextra_pptx/icons/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3118104"/>
            <a:ext cx="292608" cy="2926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647688" y="308152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Command Accuracy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6263640" y="3502152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</a:t>
            </a: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recognition may misfire in noisy environments.  </a:t>
            </a:r>
            <a:r>
              <a:rPr lang="en-US" sz="950" b="1" dirty="0">
                <a:solidFill>
                  <a:srgbClr val="125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</a:t>
            </a: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mode can be disabled; commands remain optional.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48640" y="452628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1" name="Image 4" descr="/home/claude/dextra_pptx/icons/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672584"/>
            <a:ext cx="292608" cy="29260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115568" y="463600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Jitter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731520" y="5056632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</a:t>
            </a: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tremor causes cursor instability.  </a:t>
            </a:r>
            <a:r>
              <a:rPr lang="en-US" sz="950" b="1" dirty="0">
                <a:solidFill>
                  <a:srgbClr val="125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</a:t>
            </a: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Moving-average smoothing buffer, configurable 1–15 frames.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6080760" y="452628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FF6F5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5" name="Image 5" descr="/home/claude/dextra_pptx/icons/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4672584"/>
            <a:ext cx="292608" cy="29260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47688" y="463600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Edge Accuracy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6263640" y="5056632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E8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</a:t>
            </a: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precision drops at screen edges.  </a:t>
            </a:r>
            <a:r>
              <a:rPr lang="en-US" sz="950" b="1" dirty="0">
                <a:solidFill>
                  <a:srgbClr val="125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</a:t>
            </a:r>
            <a:r>
              <a:rPr lang="en-US" sz="950" dirty="0">
                <a:solidFill>
                  <a:srgbClr val="5B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Remapped coordinate interpolation with 10% margin exclusion zones.</a:t>
            </a:r>
            <a:endParaRPr lang="en-US" sz="950" dirty="0"/>
          </a:p>
        </p:txBody>
      </p:sp>
      <p:pic>
        <p:nvPicPr>
          <p:cNvPr id="28" name="Image 6" descr="/home/claude/dextra_pptx/icons/arrow_left_white.png">
            <a:hlinkClick r:id="rId4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6382512"/>
            <a:ext cx="201168" cy="201168"/>
          </a:xfrm>
          <a:prstGeom prst="rect">
            <a:avLst/>
          </a:prstGeom>
        </p:spPr>
      </p:pic>
      <p:sp>
        <p:nvSpPr>
          <p:cNvPr id="29" name="Shape 20">
            <a:hlinkClick r:id="rId4" action="ppaction://hlinksldjump"/>
          </p:cNvPr>
          <p:cNvSpPr/>
          <p:nvPr/>
        </p:nvSpPr>
        <p:spPr>
          <a:xfrm>
            <a:off x="548640" y="6355080"/>
            <a:ext cx="2148840" cy="365760"/>
          </a:xfrm>
          <a:prstGeom prst="rect">
            <a:avLst/>
          </a:prstGeom>
          <a:solidFill>
            <a:srgbClr val="0F2A2E">
              <a:alpha val="0"/>
            </a:srgbClr>
          </a:solidFill>
          <a:ln/>
        </p:spPr>
      </p:sp>
      <p:sp>
        <p:nvSpPr>
          <p:cNvPr id="30" name="Text 21">
            <a:hlinkClick r:id="rId4" action="ppaction://hlinksldjump"/>
          </p:cNvPr>
          <p:cNvSpPr/>
          <p:nvPr/>
        </p:nvSpPr>
        <p:spPr>
          <a:xfrm>
            <a:off x="841248" y="6355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u="sng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REVIEW BOARD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8778240" y="6382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DEXTRA Review · Risks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645920"/>
            <a:ext cx="5029200" cy="5029200"/>
          </a:xfrm>
          <a:prstGeom prst="ellipse">
            <a:avLst/>
          </a:prstGeom>
          <a:solidFill>
            <a:srgbClr val="12555C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08 · </a:t>
            </a:r>
            <a:r>
              <a:rPr lang="en-US" sz="1200" b="1" kern="0" spc="200" dirty="0" err="1">
                <a:solidFill>
                  <a:srgbClr val="5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TheOrionGD'S</a:t>
            </a:r>
            <a:r>
              <a:rPr lang="en-US" sz="1200" b="1" kern="0" spc="200" dirty="0">
                <a:solidFill>
                  <a:srgbClr val="5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ASSESSMENT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Verdict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0" y="685800"/>
            <a:ext cx="3383280" cy="868680"/>
          </a:xfrm>
          <a:prstGeom prst="roundRect">
            <a:avLst>
              <a:gd name="adj" fmla="val 10526"/>
            </a:avLst>
          </a:prstGeom>
          <a:solidFill>
            <a:srgbClr val="E8633D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0" y="6858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7E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DEXTRA is both logically developable and deployable. It relies on well-known, available components, follows a modular architecture that supports incremental development, and targets a single desktop operating system initially — which simplifies compatibility and deployment.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80360"/>
            <a:ext cx="3611880" cy="2880360"/>
          </a:xfrm>
          <a:prstGeom prst="roundRect">
            <a:avLst>
              <a:gd name="adj" fmla="val 3175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</p:spPr>
      </p:sp>
      <p:pic>
        <p:nvPicPr>
          <p:cNvPr id="9" name="Image 0" descr="/home/claude/dextra_pptx/icons/fl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081528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304495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3593592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000" dirty="0">
                <a:solidFill>
                  <a:srgbClr val="D7E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webcam and microphone only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000" dirty="0">
                <a:solidFill>
                  <a:srgbClr val="D7E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OS target (Windows) simplifies initial deployment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000" dirty="0">
                <a:solidFill>
                  <a:srgbClr val="D7E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 dependencies beyond common peripherals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000" dirty="0">
                <a:solidFill>
                  <a:srgbClr val="D7E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gesture-to-action mapping and config layer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343400" y="2880360"/>
            <a:ext cx="3611880" cy="2880360"/>
          </a:xfrm>
          <a:prstGeom prst="roundRect">
            <a:avLst>
              <a:gd name="adj" fmla="val 3175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</p:spPr>
      </p:sp>
      <p:pic>
        <p:nvPicPr>
          <p:cNvPr id="13" name="Image 1" descr="/home/claude/dextra_pptx/icons/exp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4568" y="3081528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29200" y="304495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Deployability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17720" y="3593592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000" dirty="0">
                <a:solidFill>
                  <a:srgbClr val="D7E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as a standard package or bundled executable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000" dirty="0">
                <a:solidFill>
                  <a:srgbClr val="D7E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a user-space app without elevated privileges in most cases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000" dirty="0">
                <a:solidFill>
                  <a:srgbClr val="D7E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persist via a React + FastAPI panel and config files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000" dirty="0">
                <a:solidFill>
                  <a:srgbClr val="D7E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exposes reliable APIs for cursor control and hotkeys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046720" y="2880360"/>
            <a:ext cx="3611880" cy="2880360"/>
          </a:xfrm>
          <a:prstGeom prst="roundRect">
            <a:avLst>
              <a:gd name="adj" fmla="val 3175"/>
            </a:avLst>
          </a:prstGeom>
          <a:solidFill>
            <a:srgbClr val="12393E"/>
          </a:solidFill>
          <a:ln w="12700">
            <a:solidFill>
              <a:srgbClr val="2E5256"/>
            </a:solidFill>
            <a:prstDash val="solid"/>
          </a:ln>
        </p:spPr>
      </p:sp>
      <p:pic>
        <p:nvPicPr>
          <p:cNvPr id="17" name="Image 2" descr="/home/claude/dextra_pptx/icons/rou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308152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732520" y="304495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Path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321040" y="3593592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000" dirty="0">
                <a:solidFill>
                  <a:srgbClr val="D7E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core gesture interaction first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000" dirty="0">
                <a:solidFill>
                  <a:srgbClr val="D7E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configuration persistence and safe defaults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000" dirty="0">
                <a:solidFill>
                  <a:srgbClr val="D7E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installer / portable package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000" dirty="0">
                <a:solidFill>
                  <a:srgbClr val="D7E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lighting and camera setup guidance</a:t>
            </a:r>
            <a:endParaRPr lang="en-US" sz="1000" dirty="0"/>
          </a:p>
        </p:txBody>
      </p:sp>
      <p:pic>
        <p:nvPicPr>
          <p:cNvPr id="20" name="Image 3" descr="/home/claude/dextra_pptx/icons/arrow_left_white.png">
            <a:hlinkClick r:id="rId6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355080"/>
            <a:ext cx="201168" cy="201168"/>
          </a:xfrm>
          <a:prstGeom prst="rect">
            <a:avLst/>
          </a:prstGeom>
        </p:spPr>
      </p:pic>
      <p:sp>
        <p:nvSpPr>
          <p:cNvPr id="21" name="Text 15">
            <a:hlinkClick r:id="rId6" action="ppaction://hlinksldjump"/>
          </p:cNvPr>
          <p:cNvSpPr/>
          <p:nvPr/>
        </p:nvSpPr>
        <p:spPr>
          <a:xfrm>
            <a:off x="841248" y="63276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u="sng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REVIEW BOARD</a:t>
            </a:r>
            <a:endParaRPr lang="en-US" sz="1100" dirty="0"/>
          </a:p>
        </p:txBody>
      </p:sp>
      <p:sp>
        <p:nvSpPr>
          <p:cNvPr id="22" name="Text 16">
            <a:hlinkClick r:id="rId8" action="ppaction://hlinksldjump"/>
          </p:cNvPr>
          <p:cNvSpPr/>
          <p:nvPr/>
        </p:nvSpPr>
        <p:spPr>
          <a:xfrm>
            <a:off x="7680960" y="63276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u="sng" dirty="0">
                <a:solidFill>
                  <a:srgbClr val="5FD3C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CONTINUE TO SANCTION DECISION  →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011680"/>
            <a:ext cx="5486400" cy="5486400"/>
          </a:xfrm>
          <a:prstGeom prst="ellipse">
            <a:avLst/>
          </a:prstGeom>
          <a:solidFill>
            <a:srgbClr val="12555C">
              <a:alpha val="6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349240" y="868680"/>
            <a:ext cx="1463040" cy="1463040"/>
          </a:xfrm>
          <a:prstGeom prst="ellipse">
            <a:avLst/>
          </a:prstGeom>
          <a:solidFill>
            <a:srgbClr val="1C7293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4" name="Image 0" descr="/home/claude/dextra_pptx/icons/check_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9630" y="1249070"/>
            <a:ext cx="702259" cy="70225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651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5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SANCTIONED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3063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DEXTRA moves to Phase 1 — Foundation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t>Ideator: Harihar R (@HARIHAR1406)   |   Team: Mohamed Salman P · Logesh M · Muthamil V · Godfrey T R   |   Target: Windows 10/11 desktop utility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51960" y="4617720"/>
            <a:ext cx="3657600" cy="0"/>
          </a:xfrm>
          <a:prstGeom prst="line">
            <a:avLst/>
          </a:prstGeom>
          <a:noFill/>
          <a:ln w="12700">
            <a:solidFill>
              <a:srgbClr val="2E5256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71600" y="4846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FB6B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"DEXTRA demonstrates that a practical, hardware-free mouse replacement is achievable today using freely available open-source tools."</a:t>
            </a:r>
            <a:endParaRPr lang="en-US" sz="1500" dirty="0"/>
          </a:p>
        </p:txBody>
      </p:sp>
      <p:pic>
        <p:nvPicPr>
          <p:cNvPr id="10" name="Image 1" descr="/home/claude/dextra_pptx/icons/grid_white.png">
            <a:hlinkClick r:id="rId4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6355080"/>
            <a:ext cx="201168" cy="201168"/>
          </a:xfrm>
          <a:prstGeom prst="rect">
            <a:avLst/>
          </a:prstGeom>
        </p:spPr>
      </p:pic>
      <p:sp>
        <p:nvSpPr>
          <p:cNvPr id="11" name="Text 7">
            <a:hlinkClick r:id="rId4" action="ppaction://hlinksldjump"/>
          </p:cNvPr>
          <p:cNvSpPr/>
          <p:nvPr/>
        </p:nvSpPr>
        <p:spPr>
          <a:xfrm>
            <a:off x="841248" y="63276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u="sng" dirty="0">
                <a:solidFill>
                  <a:srgbClr val="8FA3A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RETURN TO REVIEW BOARD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1636</Words>
  <Application>Microsoft Office PowerPoint</Application>
  <PresentationFormat>Widescreen</PresentationFormat>
  <Paragraphs>275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DEXTRA — Proposal Review</dc:title>
  <dc:subject>PptxGenJS Presentation</dc:subject>
  <dc:creator>DEXTRA Team</dc:creator>
  <cp:lastModifiedBy>TheOrion GD</cp:lastModifiedBy>
  <cp:revision>2</cp:revision>
  <dcterms:created xsi:type="dcterms:W3CDTF">2026-06-17T08:45:25Z</dcterms:created>
  <dcterms:modified xsi:type="dcterms:W3CDTF">2026-06-17T08:49:40Z</dcterms:modified>
</cp:coreProperties>
</file>